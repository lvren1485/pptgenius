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欢迎各位参加PPT-Genius项目的Milestone 1评审会议。本次会议计划在60分钟内完成，我们将依次进行进度演示、计划回顾、问题讨论和更新计划。请各位评审专家关注团队在基础框架与核心功能上的交付成果。</a:t>
            </a:r>
          </a:p>
          <a:p/>
          <a:p>
            <a:r>
              <a:t>素材对应：01_cover_and_agenda.md；08_team_contributions.md</a:t>
            </a:r>
          </a:p>
          <a:p/>
          <a:p>
            <a:r>
              <a:t>片段来源：01_cover_and_agenda.md、08_team_contributions.md、05_issues_risks_and_challenges.md、10_review_notes_template.md、06_updated_plan_and_actions.md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首先，我们来看整体进度：18项功能已完成，完成度78%，但工时仅消耗了43%，说明前期核心功能效率较高。各模块中规划与原型完成度领先，RAG与集成稍低但已接近完成。目前进行中的三项联调与测试是接下来的重点。注意，未开始的两项（用户测试和技术报告）将在后续阶段启动。整体而言，Milestone 1的基础框架与核心功能已按计划交付。</a:t>
            </a:r>
          </a:p>
          <a:p/>
          <a:p>
            <a:r>
              <a:t>素材对应：02_progress_and_deliverables.md (进度状态、工时数据、模块完成度)；01_cover_and_agenda.md (会议日期、里程碑信息)；05_issues_risks_and_challenges.md (风险与问题背景，但本页主要引用进度数据)</a:t>
            </a:r>
          </a:p>
          <a:p/>
          <a:p>
            <a:r>
              <a:t>片段来源：01_cover_and_agenda.md、05_issues_risks_and_challenges.md、02_progress_and_deliverables.md、04_original_plan_review.md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各位请看, 这是 Milestone 1 的四个核心成果。LLM 模块完成度最高, 已经能用三类 Prompt 生成高质量大纲, 并且在实际测试中生成了同济大学课程介绍的5页PPT。RAG 模块目前采用 BM25 双源检索, 每页取10个片段, 但注意还存在噪声问题, 我们在风险页会讨论。原型导出模块已经能生成带备注和来源的 pptx, 模板目前较简单, 后续可扩展。集成测试环境已经跑通端到端流程, API 接口可以接受参数并返回 pptx。这四个模块加起来构成了我们的基础框架, 下一步就是优化质量和进行用户测试。</a:t>
            </a:r>
          </a:p>
          <a:p/>
          <a:p>
            <a:r>
              <a:t>素材对应：03_core_achievements_detail.md；07_technical_architecture.md；01_cover_and_agenda.md</a:t>
            </a:r>
          </a:p>
          <a:p/>
          <a:p>
            <a:r>
              <a:t>片段来源：03_core_achievements_detail.md、01_cover_and_agenda.md、07_technical_architecture.md、05_issues_risks_and_challenges.md、02_progress_and_deliverables.md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始计划分为五个一级模块，总工时320小时。目前我们完成了129小时，大约40%。可以看到，前四个模块都有实质性进展，但测试模块还未开始。这提醒我们需要在后续阶段加快测试投入，确保质量。另外，各个模块的工时投入与计划占比基本匹配，没有明显偏离。</a:t>
            </a:r>
          </a:p>
          <a:p/>
          <a:p>
            <a:r>
              <a:t>素材对应：04_original_plan_review.md: WBS、计划工时、已完成工时、完成度；02_progress_and_deliverables.md: 双周工时统计；08_team_contributions.md: 团队工时分配（佐证）</a:t>
            </a:r>
          </a:p>
          <a:p/>
          <a:p>
            <a:r>
              <a:t>片段来源：02_progress_and_deliverables.md、01_cover_and_agenda.md、04_original_plan_review.md、08_team_contributions.md、05_issues_risks_and_challenges.md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已经解决了三个关键问题，但接口对齐、检索噪声和耦合设计是当前核心痛点。特别提醒：RAG检索质量是高风险，因为直接关系可溯源比例是否达到80%的目标。测试仅有60小时计划工时，我们已在更新计划中增加缓冲。</a:t>
            </a:r>
          </a:p>
          <a:p/>
          <a:p>
            <a:r>
              <a:t>素材对应：05_issues_risks_and_challenges.md；01_cover_and_agenda.md；09_success_criteria.md</a:t>
            </a:r>
          </a:p>
          <a:p/>
          <a:p>
            <a:r>
              <a:t>片段来源：05_issues_risks_and_challenges.md、01_cover_and_agenda.md、03_core_achievements_detail.md、09_success_criteria.md、06_updated_plan_and_actions.md、04_original_plan_review.md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家可以看到，用户测试和迭代占据了最大工时，这是为了确保产品真正满足需求。成功标准非常量化，第5-6周将集中评估。注意RAG检索质量是高风险项，联调阶段必须反复验证。第8周为交付周，预留了缓冲时间。</a:t>
            </a:r>
          </a:p>
          <a:p/>
          <a:p>
            <a:r>
              <a:t>素材对应：06_updated_plan_and_actions.md；09_success_criteria.md；02_progress_and_deliverables.md；05_issues_risks_and_challenges.md</a:t>
            </a:r>
          </a:p>
          <a:p/>
          <a:p>
            <a:r>
              <a:t>片段来源：06_updated_plan_and_actions.md、02_progress_and_deliverables.md、01_cover_and_agenda.md、05_issues_risks_and_challenges.md、08_team_contributions.md、09_success_criteria.md、04_original_plan_review.md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展示了我们系统的核心技术架构。可以看到我们将大纲生成与内容检索增强设计为两阶段流水线，这样做的核心目的是解耦：让大纲负责结构逻辑，RAG负责事实填充。两个阶段使用了不同的温度参数：大纲生成用0.6鼓励适度创意，内容重写用0.45更强调事实性。RAG检索我们选用BM25，采用中文正则分词，不依赖外部NLP库，部署非常轻量。这里有一个重要设计点：参考文本注入——我们会在生成大纲前就把用户上传的文档内容注入提示词，最多8000字符，这能显著降低LLM凭空编造的风险。当然，RAG检索质量目前还存在噪声问题，我们将在下一阶段重点优化。整体架构为后续迭代奠定了基础。</a:t>
            </a:r>
          </a:p>
          <a:p/>
          <a:p>
            <a:r>
              <a:t>素材对应：07_technical_architecture.md；03_core_achievements_detail.md；05_issues_risks_and_challenges.md；01_cover_and_agenda.md</a:t>
            </a:r>
          </a:p>
          <a:p/>
          <a:p>
            <a:r>
              <a:t>片段来源：07_technical_architecture.md、01_cover_and_agenda.md、03_core_achievements_detail.md、05_issues_risks_and_challenges.md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团队分工清晰且互补，尤其注意跨模块接口对齐——例如罗力与左凌旭的数据格式对齐问题已在第二双周通过接口会议解决，体现了团队协作效率。总工时129小时虽只完成40%计划，但核心模块均已进入集成测试阶段。</a:t>
            </a:r>
          </a:p>
          <a:p/>
          <a:p>
            <a:r>
              <a:t>素材对应：08_team_contributions.md: 团队组成、工时明细与双周成果；01_cover_and_agenda.md: 团队角色与职责；05_issues_risks_and_challenges.md: 接口对齐事件</a:t>
            </a:r>
          </a:p>
          <a:p/>
          <a:p>
            <a:r>
              <a:t>片段来源：01_cover_and_agenda.md、08_team_contributions.md、05_issues_risks_and_challenges.md、04_original_plan_review.md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目前正式评估还未开始，但框架已就绪。Milestone 2将重点完成结构评分、可溯源比例和事实性错误率的量化验证。值得一提的是，我们已通过将上传文档注入大纲生成阶段（参考文本上限8000字符）来缓解事实性幻觉风险。</a:t>
            </a:r>
          </a:p>
          <a:p/>
          <a:p>
            <a:r>
              <a:t>素材对应：09_success_criteria.md: 成功标准定义、评估方法、当前度量状态；05_issues_risks_and_challenges.md: 数据防编造策略与风险说明；03_core_achievements_detail.md: 系统可用性验证</a:t>
            </a:r>
          </a:p>
          <a:p/>
          <a:p>
            <a:r>
              <a:t>片段来源：09_success_criteria.md、05_issues_risks_and_challenges.md、01_cover_and_agenda.md、10_review_notes_template.md、03_core_achievements_detail.md、06_updated_plan_and_actions.md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请在评审讨论环节，按表格结构依次记录评审意见、共识和行动项。注意Review Team编号需与封面一致。会后请确保所有栏位填写完整，并由评审人签字。</a:t>
            </a:r>
          </a:p>
          <a:p/>
          <a:p>
            <a:r>
              <a:t>素材对应：10_review_notes_template.md；01_cover_and_agenda.md</a:t>
            </a:r>
          </a:p>
          <a:p/>
          <a:p>
            <a:r>
              <a:t>片段来源：10_review_notes_template.md、01_cover_and_agenda.md、05_issues_risks_and_challenges.md、08_team_contributions.md、09_success_criteria.md、03_core_achievements_detail.md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777240"/>
          </a:xfrm>
          <a:prstGeom prst="rect">
            <a:avLst/>
          </a:prstGeom>
          <a:noFill/>
        </p:spPr>
        <p:txBody>
          <a:bodyPr wrap="none">
            <a:spAutoFit/>
          </a:bodyPr>
          <a:lstStyle/>
          <a:p>
            <a:pPr>
              <a:defRPr sz="2600" b="1"/>
            </a:pPr>
            <a:r>
              <a:t>PPT-Genius: 基于LLM与RAG的PPT智能生成系统</a:t>
            </a:r>
          </a:p>
        </p:txBody>
      </p:sp>
      <p:sp>
        <p:nvSpPr>
          <p:cNvPr id="3" name="TextBox 2"/>
          <p:cNvSpPr txBox="1"/>
          <p:nvPr/>
        </p:nvSpPr>
        <p:spPr>
          <a:xfrm>
            <a:off x="457200" y="1024128"/>
            <a:ext cx="8229600" cy="1325880"/>
          </a:xfrm>
          <a:prstGeom prst="rect">
            <a:avLst/>
          </a:prstGeom>
          <a:noFill/>
        </p:spPr>
        <p:txBody>
          <a:bodyPr wrap="square">
            <a:spAutoFit/>
          </a:bodyPr>
          <a:lstStyle/>
          <a:p>
            <a:pPr>
              <a:spcAft>
                <a:spcPts val="400"/>
              </a:spcAft>
              <a:defRPr sz="1400"/>
            </a:pPr>
            <a:r>
              <a:t>PPT-Genius 项目旨在利用大语言模型（LLM）与检索增强生成（RAG）技术，实现PPT大纲智能生成与内容深度补全。本页展示Milestone 1评审会议的基本信息，包括项目周期、团队分工与会议议程。</a:t>
            </a:r>
          </a:p>
        </p:txBody>
      </p:sp>
      <p:sp>
        <p:nvSpPr>
          <p:cNvPr id="4" name="TextBox 3"/>
          <p:cNvSpPr txBox="1"/>
          <p:nvPr/>
        </p:nvSpPr>
        <p:spPr>
          <a:xfrm>
            <a:off x="457200" y="2395728"/>
            <a:ext cx="8229600" cy="3767328"/>
          </a:xfrm>
          <a:prstGeom prst="rect">
            <a:avLst/>
          </a:prstGeom>
          <a:noFill/>
        </p:spPr>
        <p:txBody>
          <a:bodyPr wrap="square">
            <a:spAutoFit/>
          </a:bodyPr>
          <a:lstStyle/>
          <a:p>
            <a:pPr>
              <a:spcAft>
                <a:spcPts val="300"/>
              </a:spcAft>
              <a:defRPr sz="1700"/>
            </a:pPr>
            <a:r>
              <a:t>• 项目周期：2026年3月22日至2026年5月10日，共7周。</a:t>
            </a:r>
          </a:p>
          <a:p>
            <a:pPr>
              <a:spcAft>
                <a:spcPts val="300"/>
              </a:spcAft>
              <a:defRPr sz="1700"/>
            </a:pPr>
            <a:r>
              <a:t>• 团队组成：潘越（组长，累计32h）、罗力（33h）、左凌旭（34h）、上官思洋（30h）。</a:t>
            </a:r>
          </a:p>
          <a:p>
            <a:pPr>
              <a:spcAft>
                <a:spcPts val="300"/>
              </a:spcAft>
              <a:defRPr sz="1700"/>
            </a:pPr>
            <a:r>
              <a:t>• 会议日期：2026年5月10日，时长≤60分钟。</a:t>
            </a:r>
          </a:p>
          <a:p>
            <a:pPr>
              <a:spcAft>
                <a:spcPts val="300"/>
              </a:spcAft>
              <a:defRPr sz="1700"/>
            </a:pPr>
            <a:r>
              <a:t>• 议程：项目进度与成果演示（15min）、原始计划回顾（10min）、问题风险讨论（15min）、更新计划（15min）、总结与行动项（5min）。</a:t>
            </a:r>
          </a:p>
          <a:p>
            <a:pPr>
              <a:spcAft>
                <a:spcPts val="300"/>
              </a:spcAft>
              <a:defRPr sz="1700"/>
            </a:pPr>
            <a:r>
              <a:t>• 会议类型：Milestone 1 评审会议。</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777240"/>
          </a:xfrm>
          <a:prstGeom prst="rect">
            <a:avLst/>
          </a:prstGeom>
          <a:noFill/>
        </p:spPr>
        <p:txBody>
          <a:bodyPr wrap="none">
            <a:spAutoFit/>
          </a:bodyPr>
          <a:lstStyle/>
          <a:p>
            <a:pPr>
              <a:defRPr sz="2600" b="1"/>
            </a:pPr>
            <a:r>
              <a:t>项目进度总览</a:t>
            </a:r>
          </a:p>
        </p:txBody>
      </p:sp>
      <p:sp>
        <p:nvSpPr>
          <p:cNvPr id="3" name="TextBox 2"/>
          <p:cNvSpPr txBox="1"/>
          <p:nvPr/>
        </p:nvSpPr>
        <p:spPr>
          <a:xfrm>
            <a:off x="457200" y="1024128"/>
            <a:ext cx="8229600" cy="1325880"/>
          </a:xfrm>
          <a:prstGeom prst="rect">
            <a:avLst/>
          </a:prstGeom>
          <a:noFill/>
        </p:spPr>
        <p:txBody>
          <a:bodyPr wrap="square">
            <a:spAutoFit/>
          </a:bodyPr>
          <a:lstStyle/>
          <a:p>
            <a:pPr>
              <a:spcAft>
                <a:spcPts val="400"/>
              </a:spcAft>
              <a:defRPr sz="1400"/>
            </a:pPr>
            <a:r>
              <a:t>截至Milestone 1评审日（2026-05-10），项目已完成18项功能（78%），进行中3项（13%），未开始2项（9%）。总体工时完成度约43%，已使用129小时（第一双周61h+第二双周68h），计划总工时320小时。各模块完成度分别为：项目规划100%、叙事结构生成90%、RAG检索与内容补全85%、系统原型与导出90%、集成测试80%。关键里程碑——基础框架与核心功能均已交付。</a:t>
            </a:r>
          </a:p>
        </p:txBody>
      </p:sp>
      <p:sp>
        <p:nvSpPr>
          <p:cNvPr id="4" name="TextBox 3"/>
          <p:cNvSpPr txBox="1"/>
          <p:nvPr/>
        </p:nvSpPr>
        <p:spPr>
          <a:xfrm>
            <a:off x="457200" y="2395728"/>
            <a:ext cx="8229600" cy="3767328"/>
          </a:xfrm>
          <a:prstGeom prst="rect">
            <a:avLst/>
          </a:prstGeom>
          <a:noFill/>
        </p:spPr>
        <p:txBody>
          <a:bodyPr wrap="square">
            <a:spAutoFit/>
          </a:bodyPr>
          <a:lstStyle/>
          <a:p>
            <a:pPr>
              <a:spcAft>
                <a:spcPts val="300"/>
              </a:spcAft>
              <a:defRPr sz="1700"/>
            </a:pPr>
            <a:r>
              <a:t>• 已完成18项功能（占78%），进行中3项，未开始2项</a:t>
            </a:r>
          </a:p>
          <a:p>
            <a:pPr>
              <a:spcAft>
                <a:spcPts val="300"/>
              </a:spcAft>
              <a:defRPr sz="1700"/>
            </a:pPr>
            <a:r>
              <a:t>• 总体工时完成度43%（已用129h / 计划320h）</a:t>
            </a:r>
          </a:p>
          <a:p>
            <a:pPr>
              <a:spcAft>
                <a:spcPts val="300"/>
              </a:spcAft>
              <a:defRPr sz="1700"/>
            </a:pPr>
            <a:r>
              <a:t>• 模块完成度：规划100%，大纲90%，RAG 85%，原型90%，集成80%</a:t>
            </a:r>
          </a:p>
          <a:p>
            <a:pPr>
              <a:spcAft>
                <a:spcPts val="300"/>
              </a:spcAft>
              <a:defRPr sz="1700"/>
            </a:pPr>
            <a:r>
              <a:t>• 关键里程碑：基础框架与核心功能均已交付</a:t>
            </a:r>
          </a:p>
          <a:p>
            <a:pPr>
              <a:spcAft>
                <a:spcPts val="300"/>
              </a:spcAft>
              <a:defRPr sz="1700"/>
            </a:pPr>
            <a:r>
              <a:t>• 已完成模块包括：项目立项、需求分析、系统架构设计、Prompt定稿、知识库构建、核心数据模型、API接口等</a:t>
            </a:r>
          </a:p>
          <a:p>
            <a:pPr>
              <a:spcAft>
                <a:spcPts val="300"/>
              </a:spcAft>
              <a:defRPr sz="1700"/>
            </a:pPr>
            <a:r>
              <a:t>• 进行中任务：RAG增强联调（80%）、前端界面完善（70%）、多领域测试验证（60%）</a:t>
            </a:r>
          </a:p>
          <a:p>
            <a:pPr>
              <a:spcAft>
                <a:spcPts val="300"/>
              </a:spcAft>
              <a:defRPr sz="1700"/>
            </a:pPr>
            <a:r>
              <a:t>• 未开始任务：用户测试与效果评估、最终技术报告撰写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777240"/>
          </a:xfrm>
          <a:prstGeom prst="rect">
            <a:avLst/>
          </a:prstGeom>
          <a:noFill/>
        </p:spPr>
        <p:txBody>
          <a:bodyPr wrap="none">
            <a:spAutoFit/>
          </a:bodyPr>
          <a:lstStyle/>
          <a:p>
            <a:pPr>
              <a:defRPr sz="2600" b="1"/>
            </a:pPr>
            <a:r>
              <a:t>核心成果详解</a:t>
            </a:r>
          </a:p>
        </p:txBody>
      </p:sp>
      <p:sp>
        <p:nvSpPr>
          <p:cNvPr id="3" name="TextBox 2"/>
          <p:cNvSpPr txBox="1"/>
          <p:nvPr/>
        </p:nvSpPr>
        <p:spPr>
          <a:xfrm>
            <a:off x="457200" y="1024128"/>
            <a:ext cx="8229600" cy="1325880"/>
          </a:xfrm>
          <a:prstGeom prst="rect">
            <a:avLst/>
          </a:prstGeom>
          <a:noFill/>
        </p:spPr>
        <p:txBody>
          <a:bodyPr wrap="square">
            <a:spAutoFit/>
          </a:bodyPr>
          <a:lstStyle/>
          <a:p>
            <a:pPr>
              <a:spcAft>
                <a:spcPts val="400"/>
              </a:spcAft>
              <a:defRPr sz="1400"/>
            </a:pPr>
            <a:r>
              <a:t>Milestone 1 完成了四大核心模块的开发：LLM 大纲生成模块实现了面向商业汇报、学术研究、教育培训三类场景的 Prompt 工程，支持主题输入和文档输入，输出严格 JSON 结构，temperature=0.6 平衡创意与稳定；RAG 检索模块基于 BM25 算法，从知识库与上传文档双源检索 top_k=10 个片段，并在每页备注中标注来源；系统原型与导出模块定义了 Outline 和 SlideSpec 数据模型，基于 python-pptx 生成含标题、要点、正文和备注的 .pptx 文件，支持简易模板；集成测试环境通过 PPTGenerator 类封装完整流程，提供 POST /api/generate 接口，编写了端到端测试脚本，并采用 Uvicorn --reload 热加载。</a:t>
            </a:r>
          </a:p>
        </p:txBody>
      </p:sp>
      <p:sp>
        <p:nvSpPr>
          <p:cNvPr id="4" name="TextBox 3"/>
          <p:cNvSpPr txBox="1"/>
          <p:nvPr/>
        </p:nvSpPr>
        <p:spPr>
          <a:xfrm>
            <a:off x="457200" y="2395728"/>
            <a:ext cx="8229600" cy="3767328"/>
          </a:xfrm>
          <a:prstGeom prst="rect">
            <a:avLst/>
          </a:prstGeom>
          <a:noFill/>
        </p:spPr>
        <p:txBody>
          <a:bodyPr wrap="square">
            <a:spAutoFit/>
          </a:bodyPr>
          <a:lstStyle/>
          <a:p>
            <a:pPr>
              <a:spcAft>
                <a:spcPts val="300"/>
              </a:spcAft>
              <a:defRPr sz="1700"/>
            </a:pPr>
            <a:r>
              <a:t>• LLM 大纲生成：三场景系统 Prompt（商业汇报、学术研究、教育培训），支持纯主题与上传 PDF/DOCX/TXT 文档输入，JSON 结构化输出，temperature=0.6，已完成 90%；使用 DeepSeek API 成功生成“同济大学软件工程课程介绍”5 页 PPT</a:t>
            </a:r>
          </a:p>
          <a:p>
            <a:pPr>
              <a:spcAft>
                <a:spcPts val="300"/>
              </a:spcAft>
              <a:defRPr sz="1700"/>
            </a:pPr>
            <a:r>
              <a:t>• RAG 检索与内容补全：BM25 中文正则分词检索器，知识库 corpus.json 与用户上传文档双源检索，每页检索 top_k=10 个片段，溯源标注在讲者备注中，完成度 85%</a:t>
            </a:r>
          </a:p>
          <a:p>
            <a:pPr>
              <a:spcAft>
                <a:spcPts val="300"/>
              </a:spcAft>
              <a:defRPr sz="1700"/>
            </a:pPr>
            <a:r>
              <a:t>• 原型导出：完整 Outline 和 SlideSpec 数据模型（含标题、要点、正文段落、讲者备注、RAG 来源），python-pptx 导出 .pptx 文件，支持标题页和内容页模板，完成度 90%</a:t>
            </a:r>
          </a:p>
          <a:p>
            <a:pPr>
              <a:spcAft>
                <a:spcPts val="300"/>
              </a:spcAft>
              <a:defRPr sz="1700"/>
            </a:pPr>
            <a:r>
              <a:t>• 集成测试：PPTGenerator 类封装生成流程（生成大纲→RAG 增强→导出），POST /api/generate 接口接受 topic、num_slides 及文件上传，端到端脚本验证关键功能，Uvicorn --reload 热加载，完成度 80%</a:t>
            </a:r>
          </a:p>
          <a:p>
            <a:pPr>
              <a:spcAft>
                <a:spcPts val="300"/>
              </a:spcAft>
              <a:defRPr sz="1700"/>
            </a:pPr>
            <a:r>
              <a:t>• 技术栈：后端基于 Python 结合 LLM API、RAG 检索，数据流为 Topic→generate_outline()→enhance_with_rag()→export()→.pptx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777240"/>
          </a:xfrm>
          <a:prstGeom prst="rect">
            <a:avLst/>
          </a:prstGeom>
          <a:noFill/>
        </p:spPr>
        <p:txBody>
          <a:bodyPr wrap="none">
            <a:spAutoFit/>
          </a:bodyPr>
          <a:lstStyle/>
          <a:p>
            <a:pPr>
              <a:defRPr sz="2600" b="1"/>
            </a:pPr>
            <a:r>
              <a:t>原始计划与当前进度回顾</a:t>
            </a:r>
          </a:p>
        </p:txBody>
      </p:sp>
      <p:sp>
        <p:nvSpPr>
          <p:cNvPr id="3" name="TextBox 2"/>
          <p:cNvSpPr txBox="1"/>
          <p:nvPr/>
        </p:nvSpPr>
        <p:spPr>
          <a:xfrm>
            <a:off x="457200" y="1024128"/>
            <a:ext cx="8229600" cy="1325880"/>
          </a:xfrm>
          <a:prstGeom prst="rect">
            <a:avLst/>
          </a:prstGeom>
          <a:noFill/>
        </p:spPr>
        <p:txBody>
          <a:bodyPr wrap="square">
            <a:spAutoFit/>
          </a:bodyPr>
          <a:lstStyle/>
          <a:p>
            <a:pPr>
              <a:spcAft>
                <a:spcPts val="400"/>
              </a:spcAft>
              <a:defRPr sz="1400"/>
            </a:pPr>
            <a:r>
              <a:t>项目采用五级工作分解结构，总计划工时320小时。截至第二双周结束，累计完成129小时，整体完成度约40%。各模块进度：规划模块已100%完成，大纲、RAG、原型模块均接近半数，测试模块尚未启动。</a:t>
            </a:r>
          </a:p>
        </p:txBody>
      </p:sp>
      <p:sp>
        <p:nvSpPr>
          <p:cNvPr id="4" name="TextBox 3"/>
          <p:cNvSpPr txBox="1"/>
          <p:nvPr/>
        </p:nvSpPr>
        <p:spPr>
          <a:xfrm>
            <a:off x="457200" y="2395728"/>
            <a:ext cx="8229600" cy="3767328"/>
          </a:xfrm>
          <a:prstGeom prst="rect">
            <a:avLst/>
          </a:prstGeom>
          <a:noFill/>
        </p:spPr>
        <p:txBody>
          <a:bodyPr wrap="square">
            <a:spAutoFit/>
          </a:bodyPr>
          <a:lstStyle/>
          <a:p>
            <a:pPr>
              <a:spcAft>
                <a:spcPts val="300"/>
              </a:spcAft>
              <a:defRPr sz="1700"/>
            </a:pPr>
            <a:r>
              <a:t>• 项目规划与需求澄清：计划30小时（10%），已完成30小时，完成度100%。</a:t>
            </a:r>
          </a:p>
          <a:p>
            <a:pPr>
              <a:spcAft>
                <a:spcPts val="300"/>
              </a:spcAft>
              <a:defRPr sz="1700"/>
            </a:pPr>
            <a:r>
              <a:t>• 叙事结构智能生成模块：计划80小时（25%），已完成33小时，完成度41%。</a:t>
            </a:r>
          </a:p>
          <a:p>
            <a:pPr>
              <a:spcAft>
                <a:spcPts val="300"/>
              </a:spcAft>
              <a:defRPr sz="1700"/>
            </a:pPr>
            <a:r>
              <a:t>• RAG检索与内容补全模块：计划80小时（25%），已完成34小时，完成度43%。</a:t>
            </a:r>
          </a:p>
          <a:p>
            <a:pPr>
              <a:spcAft>
                <a:spcPts val="300"/>
              </a:spcAft>
              <a:defRPr sz="1700"/>
            </a:pPr>
            <a:r>
              <a:t>• 系统原型与交互设计：计划70小时（22%），已完成32小时，完成度46%。</a:t>
            </a:r>
          </a:p>
          <a:p>
            <a:pPr>
              <a:spcAft>
                <a:spcPts val="300"/>
              </a:spcAft>
              <a:defRPr sz="1700"/>
            </a:pPr>
            <a:r>
              <a:t>• 测试、评估与迭代：计划60小时（18%），已完成0小时，完成度0%。</a:t>
            </a:r>
          </a:p>
          <a:p>
            <a:pPr>
              <a:spcAft>
                <a:spcPts val="300"/>
              </a:spcAft>
              <a:defRPr sz="1700"/>
            </a:pPr>
            <a:r>
              <a:t>• 总计划工时320小时，已完成129小时，其中第一双周61小时，第二双周68小时。</a:t>
            </a:r>
          </a:p>
          <a:p>
            <a:pPr>
              <a:spcAft>
                <a:spcPts val="300"/>
              </a:spcAft>
              <a:defRPr sz="1700"/>
            </a:pPr>
            <a:r>
              <a:t>• 测试阶段尚未启动，其他模块进度基本符合计划，整体完成度约40%。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777240"/>
          </a:xfrm>
          <a:prstGeom prst="rect">
            <a:avLst/>
          </a:prstGeom>
          <a:noFill/>
        </p:spPr>
        <p:txBody>
          <a:bodyPr wrap="none">
            <a:spAutoFit/>
          </a:bodyPr>
          <a:lstStyle/>
          <a:p>
            <a:pPr>
              <a:defRPr sz="2600" b="1"/>
            </a:pPr>
            <a:r>
              <a:t>问题与风险</a:t>
            </a:r>
          </a:p>
        </p:txBody>
      </p:sp>
      <p:sp>
        <p:nvSpPr>
          <p:cNvPr id="3" name="TextBox 2"/>
          <p:cNvSpPr txBox="1"/>
          <p:nvPr/>
        </p:nvSpPr>
        <p:spPr>
          <a:xfrm>
            <a:off x="457200" y="1024128"/>
            <a:ext cx="8229600" cy="1325880"/>
          </a:xfrm>
          <a:prstGeom prst="rect">
            <a:avLst/>
          </a:prstGeom>
          <a:noFill/>
        </p:spPr>
        <p:txBody>
          <a:bodyPr wrap="square">
            <a:spAutoFit/>
          </a:bodyPr>
          <a:lstStyle/>
          <a:p>
            <a:pPr>
              <a:spcAft>
                <a:spcPts val="400"/>
              </a:spcAft>
              <a:defRPr sz="1400"/>
            </a:pPr>
            <a:r>
              <a:t>Milestone 1 已解决三项关键问题：虚拟环境路径不匹配、端口占用及上传文档注入缺失。但仍有三个高影响问题待验证：大纲与RAG模块接口对齐、检索结果噪声、生成结构与检索耦合。同时，检索质量、集成耦合、测试工时及事实性幻觉构成中高风险。</a:t>
            </a:r>
          </a:p>
        </p:txBody>
      </p:sp>
      <p:sp>
        <p:nvSpPr>
          <p:cNvPr id="4" name="TextBox 3"/>
          <p:cNvSpPr txBox="1"/>
          <p:nvPr/>
        </p:nvSpPr>
        <p:spPr>
          <a:xfrm>
            <a:off x="457200" y="2395728"/>
            <a:ext cx="8229600" cy="3767328"/>
          </a:xfrm>
          <a:prstGeom prst="rect">
            <a:avLst/>
          </a:prstGeom>
          <a:noFill/>
        </p:spPr>
        <p:txBody>
          <a:bodyPr wrap="square">
            <a:spAutoFit/>
          </a:bodyPr>
          <a:lstStyle/>
          <a:p>
            <a:pPr>
              <a:spcAft>
                <a:spcPts val="300"/>
              </a:spcAft>
              <a:defRPr sz="1700"/>
            </a:pPr>
            <a:r>
              <a:t>• 已解决：虚拟环境pyvenv.cfg路径与实际安装路径不匹配，已重新创建虚拟环境</a:t>
            </a:r>
          </a:p>
          <a:p>
            <a:pPr>
              <a:spcAft>
                <a:spcPts val="300"/>
              </a:spcAft>
              <a:defRPr sz="1700"/>
            </a:pPr>
            <a:r>
              <a:t>• 已解决：首次启动8000端口被占用，已切换至8765端口并同步更新前端CORS白名单</a:t>
            </a:r>
          </a:p>
          <a:p>
            <a:pPr>
              <a:spcAft>
                <a:spcPts val="300"/>
              </a:spcAft>
              <a:defRPr sz="1700"/>
            </a:pPr>
            <a:r>
              <a:t>• 已解决：LLM在大纲生成阶段无法看到上传文档，已修改core.py和client.py将文档文本注入，参考上限8000字符</a:t>
            </a:r>
          </a:p>
          <a:p>
            <a:pPr>
              <a:spcAft>
                <a:spcPts val="300"/>
              </a:spcAft>
              <a:defRPr sz="1700"/>
            </a:pPr>
            <a:r>
              <a:t>• 未解决（高）：大纲生成模块与RAG检索模块数据格式尚未完全对齐，已召开接口会议但待集成验证</a:t>
            </a:r>
          </a:p>
          <a:p>
            <a:pPr>
              <a:spcAft>
                <a:spcPts val="300"/>
              </a:spcAft>
              <a:defRPr sz="1700"/>
            </a:pPr>
            <a:r>
              <a:t>• 未解决（高）：RAG检索结果噪声较多，部分片段与页面主题相关性不足，计划缩小知识库聚焦商业场景</a:t>
            </a:r>
          </a:p>
          <a:p>
            <a:pPr>
              <a:spcAft>
                <a:spcPts val="300"/>
              </a:spcAft>
              <a:defRPr sz="1700"/>
            </a:pPr>
            <a:r>
              <a:t>• 未解决（中）：生成结构与检索内容的耦合设计尚无成熟方案，当前采用三阶段流程：先生成大纲锚点→检索增强→重写正文</a:t>
            </a:r>
          </a:p>
          <a:p>
            <a:pPr>
              <a:spcAft>
                <a:spcPts val="300"/>
              </a:spcAft>
              <a:defRPr sz="1700"/>
            </a:pPr>
            <a:r>
              <a:t>• 风险：RAG检索质量（高）直接影响内容增强可信度和可溯源比例目标（≥80%）；集成耦合（中）、测试时间仅60h（中）、事实性幻觉（中）需在评估阶段重点验证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777240"/>
          </a:xfrm>
          <a:prstGeom prst="rect">
            <a:avLst/>
          </a:prstGeom>
          <a:noFill/>
        </p:spPr>
        <p:txBody>
          <a:bodyPr wrap="none">
            <a:spAutoFit/>
          </a:bodyPr>
          <a:lstStyle/>
          <a:p>
            <a:pPr>
              <a:defRPr sz="2600" b="1"/>
            </a:pPr>
            <a:r>
              <a:t>Milestone 2 更新计划</a:t>
            </a:r>
          </a:p>
        </p:txBody>
      </p:sp>
      <p:sp>
        <p:nvSpPr>
          <p:cNvPr id="3" name="TextBox 2"/>
          <p:cNvSpPr txBox="1"/>
          <p:nvPr/>
        </p:nvSpPr>
        <p:spPr>
          <a:xfrm>
            <a:off x="457200" y="1024128"/>
            <a:ext cx="8229600" cy="1325880"/>
          </a:xfrm>
          <a:prstGeom prst="rect">
            <a:avLst/>
          </a:prstGeom>
          <a:noFill/>
        </p:spPr>
        <p:txBody>
          <a:bodyPr wrap="square">
            <a:spAutoFit/>
          </a:bodyPr>
          <a:lstStyle/>
          <a:p>
            <a:pPr>
              <a:spcAft>
                <a:spcPts val="400"/>
              </a:spcAft>
              <a:defRPr sz="1400"/>
            </a:pPr>
            <a:r>
              <a:t>基于当前进度与风险，我们重新分配了Milestone 2的200小时工时，重点投入RAG联调、用户测试与迭代，并明确量化成功标准。时间线自第3周至第8周，第5-6周集中测试与评估。</a:t>
            </a:r>
          </a:p>
        </p:txBody>
      </p:sp>
      <p:sp>
        <p:nvSpPr>
          <p:cNvPr id="4" name="TextBox 3"/>
          <p:cNvSpPr txBox="1"/>
          <p:nvPr/>
        </p:nvSpPr>
        <p:spPr>
          <a:xfrm>
            <a:off x="457200" y="2395728"/>
            <a:ext cx="8229600" cy="3767328"/>
          </a:xfrm>
          <a:prstGeom prst="rect">
            <a:avLst/>
          </a:prstGeom>
          <a:noFill/>
        </p:spPr>
        <p:txBody>
          <a:bodyPr wrap="square">
            <a:spAutoFit/>
          </a:bodyPr>
          <a:lstStyle/>
          <a:p>
            <a:pPr>
              <a:spcAft>
                <a:spcPts val="300"/>
              </a:spcAft>
              <a:defRPr sz="1700"/>
            </a:pPr>
            <a:r>
              <a:t>• RAG联调与集成（50h，25%）：完成大纲生成与RAG检索的端到端集成，优化内容融合策略（素材权重排序、去重、格式统一）。</a:t>
            </a:r>
          </a:p>
          <a:p>
            <a:pPr>
              <a:spcAft>
                <a:spcPts val="300"/>
              </a:spcAft>
              <a:defRPr sz="1700"/>
            </a:pPr>
            <a:r>
              <a:t>• 前端界面完善（30h，15%）：完成Vue3前端上传→生成→下载完整流程，加入引导提示和默认配置。</a:t>
            </a:r>
          </a:p>
          <a:p>
            <a:pPr>
              <a:spcAft>
                <a:spcPts val="300"/>
              </a:spcAft>
              <a:defRPr sz="1700"/>
            </a:pPr>
            <a:r>
              <a:t>• 多领域测试与质量评估（30h，15%）：在商业、教育、科研领域各选2-3个主题全流程测试，对照成功标准量化评估。</a:t>
            </a:r>
          </a:p>
          <a:p>
            <a:pPr>
              <a:spcAft>
                <a:spcPts val="300"/>
              </a:spcAft>
              <a:defRPr sz="1700"/>
            </a:pPr>
            <a:r>
              <a:t>• 用户测试与迭代（50h，25%）：设计测试方案与问卷，邀请5-8名目标用户试用，建立反馈-修复-验证迭代机制。</a:t>
            </a:r>
          </a:p>
          <a:p>
            <a:pPr>
              <a:spcAft>
                <a:spcPts val="300"/>
              </a:spcAft>
              <a:defRPr sz="1700"/>
            </a:pPr>
            <a:r>
              <a:t>• 文档与最终报告（40h，20%）：撰写技术报告、API与使用文档、演示材料。</a:t>
            </a:r>
          </a:p>
          <a:p>
            <a:pPr>
              <a:spcAft>
                <a:spcPts val="300"/>
              </a:spcAft>
              <a:defRPr sz="1700"/>
            </a:pPr>
            <a:r>
              <a:t>• 时间线：第3-4周RAG联调与前端完善；第5-6周多领域测试与用户测试；第7-8周迭代优化与交付准备。</a:t>
            </a:r>
          </a:p>
          <a:p>
            <a:pPr>
              <a:spcAft>
                <a:spcPts val="300"/>
              </a:spcAft>
              <a:defRPr sz="1700"/>
            </a:pPr>
            <a:r>
              <a:t>• 成功标准：结构评分≥4.5/5，可溯源比例≥80%，事实性错误率&lt;5%。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777240"/>
          </a:xfrm>
          <a:prstGeom prst="rect">
            <a:avLst/>
          </a:prstGeom>
          <a:noFill/>
        </p:spPr>
        <p:txBody>
          <a:bodyPr wrap="none">
            <a:spAutoFit/>
          </a:bodyPr>
          <a:lstStyle/>
          <a:p>
            <a:pPr>
              <a:defRPr sz="2600" b="1"/>
            </a:pPr>
            <a:r>
              <a:t>系统技术架构与核心数据流</a:t>
            </a:r>
          </a:p>
        </p:txBody>
      </p:sp>
      <p:sp>
        <p:nvSpPr>
          <p:cNvPr id="3" name="TextBox 2"/>
          <p:cNvSpPr txBox="1"/>
          <p:nvPr/>
        </p:nvSpPr>
        <p:spPr>
          <a:xfrm>
            <a:off x="457200" y="1024128"/>
            <a:ext cx="8229600" cy="1325880"/>
          </a:xfrm>
          <a:prstGeom prst="rect">
            <a:avLst/>
          </a:prstGeom>
          <a:noFill/>
        </p:spPr>
        <p:txBody>
          <a:bodyPr wrap="square">
            <a:spAutoFit/>
          </a:bodyPr>
          <a:lstStyle/>
          <a:p>
            <a:pPr>
              <a:spcAft>
                <a:spcPts val="400"/>
              </a:spcAft>
              <a:defRPr sz="1400"/>
            </a:pPr>
            <a:r>
              <a:t>系统采用四层模块化架构，由LLM模块、大纲模型、RAG检索与PPT导出组成，实现大纲生成与内容增强的解耦。核心数据流经过三阶段处理：先基于主题与参考文档生成结构化JSON大纲，再通过BM25检索知识库与用户文档获取相关片段，最后重新生成正文并导出为.pptx文件。技术栈选用FastAPI、DeepSeek API、BM25、python-pptx和Vue3，关键设计包括大纲锚点先行、检索增强后重写，以及分阶段温度控制（大纲0.6、内容0.45）。</a:t>
            </a:r>
          </a:p>
        </p:txBody>
      </p:sp>
      <p:sp>
        <p:nvSpPr>
          <p:cNvPr id="4" name="TextBox 3"/>
          <p:cNvSpPr txBox="1"/>
          <p:nvPr/>
        </p:nvSpPr>
        <p:spPr>
          <a:xfrm>
            <a:off x="457200" y="2395728"/>
            <a:ext cx="8229600" cy="3767328"/>
          </a:xfrm>
          <a:prstGeom prst="rect">
            <a:avLst/>
          </a:prstGeom>
          <a:noFill/>
        </p:spPr>
        <p:txBody>
          <a:bodyPr wrap="square">
            <a:spAutoFit/>
          </a:bodyPr>
          <a:lstStyle/>
          <a:p>
            <a:pPr>
              <a:spcAft>
                <a:spcPts val="300"/>
              </a:spcAft>
              <a:defRPr sz="1700"/>
            </a:pPr>
            <a:r>
              <a:t>• 四层架构：LLM模块（调用DeepSeek API，temperature=0.6）、大纲模型（Outline/SlideSpec数据类）、RAG检索（BM25中文正则分词，支持双源检索）、PPT导出（python-pptx生成完整.pptx，含标题、要点、正文、备注）</a:t>
            </a:r>
          </a:p>
          <a:p>
            <a:pPr>
              <a:spcAft>
                <a:spcPts val="300"/>
              </a:spcAft>
              <a:defRPr sz="1700"/>
            </a:pPr>
            <a:r>
              <a:t>• 核心数据流：用户输入主题+可选文档 → generate_outline()生成JSON大纲 → enhance_with_rag()检索top_k片段并重写正文 → export()输出.pptx文件</a:t>
            </a:r>
          </a:p>
          <a:p>
            <a:pPr>
              <a:spcAft>
                <a:spcPts val="300"/>
              </a:spcAft>
              <a:defRPr sz="1700"/>
            </a:pPr>
            <a:r>
              <a:t>• 技术栈：后端框架FastAPI，LLM接口DeepSeek API（deepseek-v4-flash），检索算法BM25，PPT生成python-pptx，前端Vue3</a:t>
            </a:r>
          </a:p>
          <a:p>
            <a:pPr>
              <a:spcAft>
                <a:spcPts val="300"/>
              </a:spcAft>
              <a:defRPr sz="1700"/>
            </a:pPr>
            <a:r>
              <a:t>• 关键设计：三阶段生成流水线（大纲锚点→检索增强→重写正文），确保结构逻辑与内容事实分离，便于独立优化</a:t>
            </a:r>
          </a:p>
          <a:p>
            <a:pPr>
              <a:spcAft>
                <a:spcPts val="300"/>
              </a:spcAft>
              <a:defRPr sz="1700"/>
            </a:pPr>
            <a:r>
              <a:t>• 参考文本注入：将用户上传文档全文（上限8000字符）注入大纲生成阶段，减少LLM编造事实的几率</a:t>
            </a:r>
          </a:p>
          <a:p>
            <a:pPr>
              <a:spcAft>
                <a:spcPts val="300"/>
              </a:spcAft>
              <a:defRPr sz="1700"/>
            </a:pPr>
            <a:r>
              <a:t>• 启发式降级：当API Key不可用时，系统可使用规则填充生成大纲与内容，保障系统在任何条件下可运行</a:t>
            </a:r>
          </a:p>
          <a:p>
            <a:pPr>
              <a:spcAft>
                <a:spcPts val="300"/>
              </a:spcAft>
              <a:defRPr sz="1700"/>
            </a:pPr>
            <a:r>
              <a:t>• 数据模型：SlideSpec dataclass约束每页的标题、要点、正文段落、讲者备注及RAG来源字段，确保结构化输出</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777240"/>
          </a:xfrm>
          <a:prstGeom prst="rect">
            <a:avLst/>
          </a:prstGeom>
          <a:noFill/>
        </p:spPr>
        <p:txBody>
          <a:bodyPr wrap="none">
            <a:spAutoFit/>
          </a:bodyPr>
          <a:lstStyle/>
          <a:p>
            <a:pPr>
              <a:defRPr sz="2600" b="1"/>
            </a:pPr>
            <a:r>
              <a:t>团队贡献与工时明细</a:t>
            </a:r>
          </a:p>
        </p:txBody>
      </p:sp>
      <p:sp>
        <p:nvSpPr>
          <p:cNvPr id="3" name="TextBox 2"/>
          <p:cNvSpPr txBox="1"/>
          <p:nvPr/>
        </p:nvSpPr>
        <p:spPr>
          <a:xfrm>
            <a:off x="457200" y="1024128"/>
            <a:ext cx="8229600" cy="1325880"/>
          </a:xfrm>
          <a:prstGeom prst="rect">
            <a:avLst/>
          </a:prstGeom>
          <a:noFill/>
        </p:spPr>
        <p:txBody>
          <a:bodyPr wrap="square">
            <a:spAutoFit/>
          </a:bodyPr>
          <a:lstStyle/>
          <a:p>
            <a:pPr>
              <a:spcAft>
                <a:spcPts val="400"/>
              </a:spcAft>
              <a:defRPr sz="1400"/>
            </a:pPr>
            <a:r>
              <a:t>PPT-Genius项目Milestone 1阶段由四位成员协作完成，累计投入129小时，占计划总工时320小时的40%。团队分工明确，覆盖项目规划、生成模块、RAG检索与原型导出，并通过两轮双周冲刺实现了核心功能框架。</a:t>
            </a:r>
          </a:p>
        </p:txBody>
      </p:sp>
      <p:sp>
        <p:nvSpPr>
          <p:cNvPr id="4" name="TextBox 3"/>
          <p:cNvSpPr txBox="1"/>
          <p:nvPr/>
        </p:nvSpPr>
        <p:spPr>
          <a:xfrm>
            <a:off x="457200" y="2395728"/>
            <a:ext cx="8229600" cy="3767328"/>
          </a:xfrm>
          <a:prstGeom prst="rect">
            <a:avLst/>
          </a:prstGeom>
          <a:noFill/>
        </p:spPr>
        <p:txBody>
          <a:bodyPr wrap="square">
            <a:spAutoFit/>
          </a:bodyPr>
          <a:lstStyle/>
          <a:p>
            <a:pPr>
              <a:spcAft>
                <a:spcPts val="300"/>
              </a:spcAft>
              <a:defRPr sz="1700"/>
            </a:pPr>
            <a:r>
              <a:t>• 潘越（组长，32h）：统筹项目规划、需求梳理与阶段计划，设计API接口与PPTGenerator类，搭建集成测试环境并编写测试脚本，负责报告整合与验收把关。</a:t>
            </a:r>
          </a:p>
          <a:p>
            <a:pPr>
              <a:spcAft>
                <a:spcPts val="300"/>
              </a:spcAft>
              <a:defRPr sz="1700"/>
            </a:pPr>
            <a:r>
              <a:t>• 罗力（成员，33h）：设计LLM提示词（商业/学术/教育三类场景），实现大纲生成逻辑与结构化输出，支持文档输入方式，完成Prompt定稿与模块调用函数。</a:t>
            </a:r>
          </a:p>
          <a:p>
            <a:pPr>
              <a:spcAft>
                <a:spcPts val="300"/>
              </a:spcAft>
              <a:defRPr sz="1700"/>
            </a:pPr>
            <a:r>
              <a:t>• 左凌旭（成员，34h）：调研并实现RAG检索方案，构建知识库预处理流程，部署向量数据库，完成基础检索及重排过滤规则，负责内容增强与事实性校验。</a:t>
            </a:r>
          </a:p>
          <a:p>
            <a:pPr>
              <a:spcAft>
                <a:spcPts val="300"/>
              </a:spcAft>
              <a:defRPr sz="1700"/>
            </a:pPr>
            <a:r>
              <a:t>• 上官思洋（成员，30h）：定义EnhancedPPT数据模型，实现python-pptx单页导出与模板创建，管理文档目录与测试记录，完成原型展示与导出需求。</a:t>
            </a:r>
          </a:p>
          <a:p>
            <a:pPr>
              <a:spcAft>
                <a:spcPts val="300"/>
              </a:spcAft>
              <a:defRPr sz="1700"/>
            </a:pPr>
            <a:r>
              <a:t>• 双周冲刺：第一双周（61h）完成技术路线梳理、Prompt草案、RAG方案调研与文档规划；第二双周（68h）聚焦接口设计、Prompt定稿、知识库部署与原型开发。</a:t>
            </a:r>
          </a:p>
          <a:p>
            <a:pPr>
              <a:spcAft>
                <a:spcPts val="300"/>
              </a:spcAft>
              <a:defRPr sz="1700"/>
            </a:pPr>
            <a:r>
              <a:t>• 模块工时分布：统筹与集成测试16h，叙事结构生成33h，RAG检索34h，系统原型与导出30h，人均工时32.25小时。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777240"/>
          </a:xfrm>
          <a:prstGeom prst="rect">
            <a:avLst/>
          </a:prstGeom>
          <a:noFill/>
        </p:spPr>
        <p:txBody>
          <a:bodyPr wrap="none">
            <a:spAutoFit/>
          </a:bodyPr>
          <a:lstStyle/>
          <a:p>
            <a:pPr>
              <a:defRPr sz="2600" b="1"/>
            </a:pPr>
            <a:r>
              <a:t>成功标准与当前状态</a:t>
            </a:r>
          </a:p>
        </p:txBody>
      </p:sp>
      <p:sp>
        <p:nvSpPr>
          <p:cNvPr id="3" name="TextBox 2"/>
          <p:cNvSpPr txBox="1"/>
          <p:nvPr/>
        </p:nvSpPr>
        <p:spPr>
          <a:xfrm>
            <a:off x="457200" y="1024128"/>
            <a:ext cx="8229600" cy="1325880"/>
          </a:xfrm>
          <a:prstGeom prst="rect">
            <a:avLst/>
          </a:prstGeom>
          <a:noFill/>
        </p:spPr>
        <p:txBody>
          <a:bodyPr wrap="square">
            <a:spAutoFit/>
          </a:bodyPr>
          <a:lstStyle/>
          <a:p>
            <a:pPr>
              <a:spcAft>
                <a:spcPts val="400"/>
              </a:spcAft>
              <a:defRPr sz="1400"/>
            </a:pPr>
            <a:r>
              <a:t>项目设定了四项质量指标：结构评分、可溯源比例、事实性错误率和用户满意度。当前，系统可用性（核心API可调用）已达成，但质量评估尚未启动或仅完成框架搭建。</a:t>
            </a:r>
          </a:p>
        </p:txBody>
      </p:sp>
      <p:sp>
        <p:nvSpPr>
          <p:cNvPr id="4" name="TextBox 3"/>
          <p:cNvSpPr txBox="1"/>
          <p:nvPr/>
        </p:nvSpPr>
        <p:spPr>
          <a:xfrm>
            <a:off x="457200" y="2395728"/>
            <a:ext cx="8229600" cy="3767328"/>
          </a:xfrm>
          <a:prstGeom prst="rect">
            <a:avLst/>
          </a:prstGeom>
          <a:noFill/>
        </p:spPr>
        <p:txBody>
          <a:bodyPr wrap="square">
            <a:spAutoFit/>
          </a:bodyPr>
          <a:lstStyle/>
          <a:p>
            <a:pPr>
              <a:spcAft>
                <a:spcPts val="300"/>
              </a:spcAft>
              <a:defRPr sz="1700"/>
            </a:pPr>
            <a:r>
              <a:t>• 结构评分要求平均≥4.5/5，由2-3人独立评审9个跨场景样例，评估页间逻辑、标题准确性、要点覆盖度与内容粒度。当前状态：未开始，计划在Milestone 2启动。</a:t>
            </a:r>
          </a:p>
          <a:p>
            <a:pPr>
              <a:spcAft>
                <a:spcPts val="300"/>
              </a:spcAft>
              <a:defRPr sz="1700"/>
            </a:pPr>
            <a:r>
              <a:t>• 可溯源比例要求≥80%，统计每页备注中标注来源的要点占比，已实现检索与备注模块，框架搭建完成。</a:t>
            </a:r>
          </a:p>
          <a:p>
            <a:pPr>
              <a:spcAft>
                <a:spcPts val="300"/>
              </a:spcAft>
              <a:defRPr sz="1700"/>
            </a:pPr>
            <a:r>
              <a:t>• 事实性错误率要求&lt;5%，每主题随机抽取20条生成内容，对照知识库逐条核查，当前待验证。</a:t>
            </a:r>
          </a:p>
          <a:p>
            <a:pPr>
              <a:spcAft>
                <a:spcPts val="300"/>
              </a:spcAft>
              <a:defRPr sz="1700"/>
            </a:pPr>
            <a:r>
              <a:t>• 用户满意度要求在Milestone 2通过5-8名目标用户的任务测试与SUS问卷评估，目标≥4.0/5。</a:t>
            </a:r>
          </a:p>
          <a:p>
            <a:pPr>
              <a:spcAft>
                <a:spcPts val="300"/>
              </a:spcAft>
              <a:defRPr sz="1700"/>
            </a:pPr>
            <a:r>
              <a:t>• 系统可用性已达成：POST /api/generate接口稳定返回200，支持纯主题和文档输入。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777240"/>
          </a:xfrm>
          <a:prstGeom prst="rect">
            <a:avLst/>
          </a:prstGeom>
          <a:noFill/>
        </p:spPr>
        <p:txBody>
          <a:bodyPr wrap="none">
            <a:spAutoFit/>
          </a:bodyPr>
          <a:lstStyle/>
          <a:p>
            <a:pPr>
              <a:defRPr sz="2600" b="1"/>
            </a:pPr>
            <a:r>
              <a:t>评审记录（现场填写）</a:t>
            </a:r>
          </a:p>
        </p:txBody>
      </p:sp>
      <p:sp>
        <p:nvSpPr>
          <p:cNvPr id="3" name="TextBox 2"/>
          <p:cNvSpPr txBox="1"/>
          <p:nvPr/>
        </p:nvSpPr>
        <p:spPr>
          <a:xfrm>
            <a:off x="457200" y="1024128"/>
            <a:ext cx="8229600" cy="1325880"/>
          </a:xfrm>
          <a:prstGeom prst="rect">
            <a:avLst/>
          </a:prstGeom>
          <a:noFill/>
        </p:spPr>
        <p:txBody>
          <a:bodyPr wrap="square">
            <a:spAutoFit/>
          </a:bodyPr>
          <a:lstStyle/>
          <a:p>
            <a:pPr>
              <a:spcAft>
                <a:spcPts val="400"/>
              </a:spcAft>
              <a:defRPr sz="1400"/>
            </a:pPr>
            <a:r>
              <a:t>本页为现场记录页，用于在评审会议中即时填写评审意见、达成共识及后续行动项，所有单元格在生成时保持空白，由评审团队手工录入。</a:t>
            </a:r>
          </a:p>
        </p:txBody>
      </p:sp>
      <p:sp>
        <p:nvSpPr>
          <p:cNvPr id="4" name="TextBox 3"/>
          <p:cNvSpPr txBox="1"/>
          <p:nvPr/>
        </p:nvSpPr>
        <p:spPr>
          <a:xfrm>
            <a:off x="457200" y="2395728"/>
            <a:ext cx="8229600" cy="3767328"/>
          </a:xfrm>
          <a:prstGeom prst="rect">
            <a:avLst/>
          </a:prstGeom>
          <a:noFill/>
        </p:spPr>
        <p:txBody>
          <a:bodyPr wrap="square">
            <a:spAutoFit/>
          </a:bodyPr>
          <a:lstStyle/>
          <a:p>
            <a:pPr>
              <a:spcAft>
                <a:spcPts val="300"/>
              </a:spcAft>
              <a:defRPr sz="1700"/>
            </a:pPr>
            <a:r>
              <a:t>• Review Team 编号：_______________（现场填写，参考会议基本信息）</a:t>
            </a:r>
          </a:p>
          <a:p>
            <a:pPr>
              <a:spcAft>
                <a:spcPts val="300"/>
              </a:spcAft>
              <a:defRPr sz="1700"/>
            </a:pPr>
            <a:r>
              <a:t>• 评审意见：记录评审人提出的具体问题与反馈，每行一条，填写于表格中</a:t>
            </a:r>
          </a:p>
          <a:p>
            <a:pPr>
              <a:spcAft>
                <a:spcPts val="300"/>
              </a:spcAft>
              <a:defRPr sz="1700"/>
            </a:pPr>
            <a:r>
              <a:t>• 达成共识：记录团队对关键问题的共同理解与决策，最多三项</a:t>
            </a:r>
          </a:p>
          <a:p>
            <a:pPr>
              <a:spcAft>
                <a:spcPts val="300"/>
              </a:spcAft>
              <a:defRPr sz="1700"/>
            </a:pPr>
            <a:r>
              <a:t>• 后续行动项：明确负责人与截止日期，确保评审结论可追溯、可执行</a:t>
            </a:r>
          </a:p>
          <a:p>
            <a:pPr>
              <a:spcAft>
                <a:spcPts val="300"/>
              </a:spcAft>
              <a:defRPr sz="1700"/>
            </a:pPr>
            <a:r>
              <a:t>• 评审人签名与日期：会议结束后由评审人签字确认，日期为2026年5月10日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