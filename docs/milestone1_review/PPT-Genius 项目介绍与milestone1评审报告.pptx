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70" r:id="rId3"/>
    <p:sldId id="257" r:id="rId4"/>
    <p:sldId id="259" r:id="rId5"/>
    <p:sldId id="260" r:id="rId6"/>
    <p:sldId id="261" r:id="rId7"/>
    <p:sldId id="258" r:id="rId8"/>
    <p:sldId id="271" r:id="rId9"/>
    <p:sldId id="269" r:id="rId10"/>
    <p:sldId id="264" r:id="rId11"/>
    <p:sldId id="263" r:id="rId12"/>
    <p:sldId id="266" r:id="rId13"/>
    <p:sldId id="268" r:id="rId14"/>
    <p:sldId id="272" r:id="rId15"/>
    <p:sldId id="265" r:id="rId16"/>
    <p:sldId id="273" r:id="rId17"/>
    <p:sldId id="274" r:id="rId18"/>
    <p:sldId id="267" r:id="rId19"/>
  </p:sldIdLst>
  <p:sldSz cx="12192000" cy="6858000"/>
  <p:notesSz cx="6858000" cy="9144000"/>
  <p:embeddedFontLst>
    <p:embeddedFont>
      <p:font typeface="Noto Sans SC" panose="020B0200000000000000" pitchFamily="34" charset="-122"/>
      <p:regular r:id="rId21"/>
      <p:bold r:id="rId22"/>
    </p:embeddedFont>
    <p:embeddedFont>
      <p:font typeface="Oswald" panose="00000500000000000000" pitchFamily="2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88"/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6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3271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21F77-D8C4-22B4-C5DA-21244D097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DE69BB-2506-8CE7-0F3F-B5A9642D5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448EA9-AE5A-2F60-08F6-90317881A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7549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6B4E4364-CCA8-E4A6-5E95-0FD599FA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>
            <a:extLst>
              <a:ext uri="{FF2B5EF4-FFF2-40B4-BE49-F238E27FC236}">
                <a16:creationId xmlns:a16="http://schemas.microsoft.com/office/drawing/2014/main" id="{B417B125-A587-6EA8-CA44-A119EF13A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>
            <a:extLst>
              <a:ext uri="{FF2B5EF4-FFF2-40B4-BE49-F238E27FC236}">
                <a16:creationId xmlns:a16="http://schemas.microsoft.com/office/drawing/2014/main" id="{DFC4F840-5FDF-38CE-8A10-A6F17E16AE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824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58C8-F779-B480-6BF1-9AF83894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231095-76CD-56B3-7D87-CBF18BDE3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1E6A97-C071-F797-3355-C08EF683B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0927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B2E244B1-693D-7002-B8DB-774F23ED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>
            <a:extLst>
              <a:ext uri="{FF2B5EF4-FFF2-40B4-BE49-F238E27FC236}">
                <a16:creationId xmlns:a16="http://schemas.microsoft.com/office/drawing/2014/main" id="{044D9C93-F224-58B2-35C2-05B03C3906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>
            <a:extLst>
              <a:ext uri="{FF2B5EF4-FFF2-40B4-BE49-F238E27FC236}">
                <a16:creationId xmlns:a16="http://schemas.microsoft.com/office/drawing/2014/main" id="{2DF80952-E5C2-F55B-5712-B8E3FE2AD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0834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63E7763D-7DD7-B471-6573-3DA189F8A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>
            <a:extLst>
              <a:ext uri="{FF2B5EF4-FFF2-40B4-BE49-F238E27FC236}">
                <a16:creationId xmlns:a16="http://schemas.microsoft.com/office/drawing/2014/main" id="{EAD1AA84-2DDA-B94B-21C7-522933929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>
            <a:extLst>
              <a:ext uri="{FF2B5EF4-FFF2-40B4-BE49-F238E27FC236}">
                <a16:creationId xmlns:a16="http://schemas.microsoft.com/office/drawing/2014/main" id="{8E485EE9-C51A-2F9F-69AE-50D8A4155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0213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1047750" y="1100137"/>
            <a:ext cx="1143000" cy="76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047750" y="1462087"/>
            <a:ext cx="1100137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PPT-GENIUS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047750" y="2843212"/>
            <a:ext cx="1047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1CAA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基于LLM与RAG的PPT智能生成与补全系统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47750" y="3833812"/>
            <a:ext cx="104775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0" i="0" u="none" strike="noStrike" cap="non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项目介绍与</a:t>
            </a:r>
            <a:r>
              <a:rPr lang="en-US" sz="2250" b="0" i="0" u="none" strike="noStrike" cap="non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Milestone 1 </a:t>
            </a:r>
            <a:r>
              <a:rPr lang="en-US" sz="2250" b="0" i="0" u="none" strike="noStrike" cap="non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阶段评审报告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3380779"/>
            <a:ext cx="5715000" cy="342959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047750" y="5272087"/>
            <a:ext cx="12477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组长：潘越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2667000" y="5272087"/>
            <a:ext cx="9525" cy="371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057525" y="5272087"/>
            <a:ext cx="34671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成员：罗力、左凌旭、上官思洋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>
            <a:extLst>
              <a:ext uri="{FF2B5EF4-FFF2-40B4-BE49-F238E27FC236}">
                <a16:creationId xmlns:a16="http://schemas.microsoft.com/office/drawing/2014/main" id="{4752116B-2995-DFF7-C364-632F95C046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89;p13" descr="image.png">
            <a:extLst>
              <a:ext uri="{FF2B5EF4-FFF2-40B4-BE49-F238E27FC236}">
                <a16:creationId xmlns:a16="http://schemas.microsoft.com/office/drawing/2014/main" id="{C0476378-FE4E-0B30-A4BB-4917BDD478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7627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D6E9C29B-D60A-0EA1-796C-A012242B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项目总览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22659DBE-D547-69B4-C0E8-8A8D2BD142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13" y="4006831"/>
            <a:ext cx="7772400" cy="40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项目目标与项目架构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41099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C01D7BC-2345-47E3-A8EE-BB45224E7E4D}"/>
              </a:ext>
            </a:extLst>
          </p:cNvPr>
          <p:cNvGrpSpPr/>
          <p:nvPr/>
        </p:nvGrpSpPr>
        <p:grpSpPr>
          <a:xfrm>
            <a:off x="675322" y="2159646"/>
            <a:ext cx="5143500" cy="3532286"/>
            <a:chOff x="6381750" y="1848595"/>
            <a:chExt cx="5143500" cy="3532286"/>
          </a:xfrm>
        </p:grpSpPr>
        <p:pic>
          <p:nvPicPr>
            <p:cNvPr id="98" name="Google Shape;98;p14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81750" y="1848595"/>
              <a:ext cx="5143500" cy="3532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4"/>
            <p:cNvSpPr txBox="1"/>
            <p:nvPr/>
          </p:nvSpPr>
          <p:spPr>
            <a:xfrm>
              <a:off x="6775141" y="2130281"/>
              <a:ext cx="19202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 err="1">
                  <a:solidFill>
                    <a:srgbClr val="00508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目标</a:t>
              </a:r>
              <a:endParaRPr dirty="0"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6775141" y="2616056"/>
              <a:ext cx="1828800" cy="28575"/>
            </a:xfrm>
            <a:prstGeom prst="rect">
              <a:avLst/>
            </a:prstGeom>
            <a:solidFill>
              <a:srgbClr val="11CAA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6775141" y="3035156"/>
              <a:ext cx="4400550" cy="1680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39948"/>
                </a:lnSpc>
              </a:pPr>
              <a:r>
                <a:rPr lang="zh-CN" altLang="en-US" sz="1950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项目旨在融合 </a:t>
              </a:r>
              <a:r>
                <a:rPr lang="en-US" altLang="zh-CN" sz="1950" b="1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LLM</a:t>
              </a:r>
              <a:r>
                <a:rPr lang="zh-CN" altLang="en-US" sz="1950" b="1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的结构化能力</a:t>
              </a:r>
              <a:r>
                <a:rPr lang="zh-CN" altLang="en-US" sz="1950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与 </a:t>
              </a:r>
              <a:r>
                <a:rPr lang="en-US" altLang="zh-CN" sz="1950" b="1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RAG</a:t>
              </a:r>
              <a:r>
                <a:rPr lang="zh-CN" altLang="en-US" sz="1950" b="1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的检索能力</a:t>
              </a:r>
              <a:r>
                <a:rPr lang="zh-CN" altLang="en-US" sz="1950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，打造从模糊主题到专业</a:t>
              </a:r>
              <a:r>
                <a:rPr lang="en-US" altLang="zh-CN" sz="1950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PPT</a:t>
              </a:r>
              <a:r>
                <a:rPr lang="zh-CN" altLang="en-US" sz="1950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的端到端自动化生成流水线，提供一个专业的</a:t>
              </a:r>
              <a:r>
                <a:rPr lang="en-US" altLang="zh-CN" sz="1950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PPT</a:t>
              </a:r>
              <a:r>
                <a:rPr lang="zh-CN" altLang="en-US" sz="1950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生成解决方案。</a:t>
              </a:r>
              <a:endParaRPr lang="zh-CN" altLang="en-US" sz="20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431EE99-E4D2-A615-FF54-EC2A79F4C4CE}"/>
              </a:ext>
            </a:extLst>
          </p:cNvPr>
          <p:cNvGrpSpPr/>
          <p:nvPr/>
        </p:nvGrpSpPr>
        <p:grpSpPr>
          <a:xfrm>
            <a:off x="6178846" y="2441332"/>
            <a:ext cx="5653130" cy="2814771"/>
            <a:chOff x="666750" y="2166666"/>
            <a:chExt cx="5653130" cy="2814771"/>
          </a:xfrm>
        </p:grpSpPr>
        <p:sp>
          <p:nvSpPr>
            <p:cNvPr id="99" name="Google Shape;99;p14"/>
            <p:cNvSpPr txBox="1"/>
            <p:nvPr/>
          </p:nvSpPr>
          <p:spPr>
            <a:xfrm>
              <a:off x="666750" y="2166666"/>
              <a:ext cx="2240280" cy="466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 err="1">
                  <a:solidFill>
                    <a:srgbClr val="00508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解决的核心难题</a:t>
              </a:r>
              <a:endParaRPr dirty="0"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666750" y="2652441"/>
              <a:ext cx="2133600" cy="28575"/>
            </a:xfrm>
            <a:prstGeom prst="rect">
              <a:avLst/>
            </a:prstGeom>
            <a:solidFill>
              <a:srgbClr val="11CAA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1095375" y="2995341"/>
              <a:ext cx="4714875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叙事逻辑构建</a:t>
              </a:r>
              <a:r>
                <a:rPr lang="en-US" sz="1950" b="1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解决“有主题无结构”的起步难点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dirty="0"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095375" y="3909741"/>
              <a:ext cx="5224505" cy="450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内容可信度</a:t>
              </a:r>
              <a:r>
                <a:rPr lang="en-US" sz="1950" b="1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杜绝大模型的“事实性幻觉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”。</a:t>
              </a:r>
              <a:endParaRPr dirty="0"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1095375" y="4531314"/>
              <a:ext cx="4936816" cy="450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制作效率</a:t>
              </a:r>
              <a:r>
                <a:rPr lang="en-US" sz="1950" b="1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将数小时的工作缩短至分钟级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dirty="0"/>
            </a:p>
          </p:txBody>
        </p:sp>
        <p:pic>
          <p:nvPicPr>
            <p:cNvPr id="109" name="Google Shape;109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66750" y="3066778"/>
              <a:ext cx="266700" cy="276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4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6750" y="3981178"/>
              <a:ext cx="266700" cy="276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4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6750" y="4602751"/>
              <a:ext cx="266700" cy="276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4"/>
          <p:cNvSpPr txBox="1"/>
          <p:nvPr/>
        </p:nvSpPr>
        <p:spPr>
          <a:xfrm>
            <a:off x="666750" y="705594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项目目标与核心愿景</a:t>
            </a:r>
            <a:endParaRPr dirty="0"/>
          </a:p>
        </p:txBody>
      </p:sp>
      <p:sp>
        <p:nvSpPr>
          <p:cNvPr id="113" name="Google Shape;113;p14"/>
          <p:cNvSpPr/>
          <p:nvPr/>
        </p:nvSpPr>
        <p:spPr>
          <a:xfrm>
            <a:off x="666750" y="1419969"/>
            <a:ext cx="62103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2026622" y="4323254"/>
            <a:ext cx="8138755" cy="2134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66750" y="1961803"/>
            <a:ext cx="5143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RBS核心职责划分：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66751" y="2523778"/>
            <a:ext cx="3337982" cy="135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叙事结构生成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负责多场景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Prompt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设计、JSON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结构约束、大纲质量评估规则制定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46" name="Google Shape;146;p16"/>
          <p:cNvSpPr txBox="1"/>
          <p:nvPr/>
        </p:nvSpPr>
        <p:spPr>
          <a:xfrm>
            <a:off x="4264503" y="2505245"/>
            <a:ext cx="3609047" cy="135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知识检索增强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负责知识库预处理、BM25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算法部署、重排过滤及证据对齐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8336018" y="2505245"/>
            <a:ext cx="3189231" cy="135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系统交互支持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负责架构设计、Vue3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前端交互、API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编排、PPTX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导出逻辑实现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48" name="Google Shape;148;p16"/>
          <p:cNvSpPr txBox="1"/>
          <p:nvPr/>
        </p:nvSpPr>
        <p:spPr>
          <a:xfrm>
            <a:off x="666750" y="700831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责任分解结构</a:t>
            </a:r>
            <a:r>
              <a:rPr lang="en-US" sz="3900" b="1" i="0" u="none" strike="noStrike" cap="none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 (RBS) </a:t>
            </a:r>
            <a:r>
              <a:rPr lang="en-US" sz="39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详细说明</a:t>
            </a:r>
            <a:endParaRPr dirty="0"/>
          </a:p>
        </p:txBody>
      </p:sp>
      <p:sp>
        <p:nvSpPr>
          <p:cNvPr id="149" name="Google Shape;149;p16"/>
          <p:cNvSpPr/>
          <p:nvPr/>
        </p:nvSpPr>
        <p:spPr>
          <a:xfrm>
            <a:off x="666750" y="1415206"/>
            <a:ext cx="41433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9;p18">
            <a:extLst>
              <a:ext uri="{FF2B5EF4-FFF2-40B4-BE49-F238E27FC236}">
                <a16:creationId xmlns:a16="http://schemas.microsoft.com/office/drawing/2014/main" id="{56C723D0-207F-0E8E-2F1D-DD0F1FED6C10}"/>
              </a:ext>
            </a:extLst>
          </p:cNvPr>
          <p:cNvSpPr/>
          <p:nvPr/>
        </p:nvSpPr>
        <p:spPr>
          <a:xfrm flipH="1">
            <a:off x="8065956" y="2300527"/>
            <a:ext cx="45720" cy="1893254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79;p18">
            <a:extLst>
              <a:ext uri="{FF2B5EF4-FFF2-40B4-BE49-F238E27FC236}">
                <a16:creationId xmlns:a16="http://schemas.microsoft.com/office/drawing/2014/main" id="{10575142-82D6-B0F8-5D1C-1D2EDDCB522F}"/>
              </a:ext>
            </a:extLst>
          </p:cNvPr>
          <p:cNvSpPr/>
          <p:nvPr/>
        </p:nvSpPr>
        <p:spPr>
          <a:xfrm flipH="1">
            <a:off x="3985632" y="2300527"/>
            <a:ext cx="45720" cy="1893254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380263" y="2571080"/>
            <a:ext cx="5551812" cy="2428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3490CA65-996E-E71C-2ED0-0FF4AFDA31BD}"/>
              </a:ext>
            </a:extLst>
          </p:cNvPr>
          <p:cNvGrpSpPr/>
          <p:nvPr/>
        </p:nvGrpSpPr>
        <p:grpSpPr>
          <a:xfrm>
            <a:off x="6096000" y="2220813"/>
            <a:ext cx="5593999" cy="3030174"/>
            <a:chOff x="6096000" y="2220813"/>
            <a:chExt cx="5593999" cy="3030174"/>
          </a:xfrm>
        </p:grpSpPr>
        <p:sp>
          <p:nvSpPr>
            <p:cNvPr id="157" name="Google Shape;157;p17"/>
            <p:cNvSpPr txBox="1"/>
            <p:nvPr/>
          </p:nvSpPr>
          <p:spPr>
            <a:xfrm>
              <a:off x="6105525" y="2220813"/>
              <a:ext cx="5143500" cy="371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五个关键工作包</a:t>
              </a:r>
              <a:r>
                <a:rPr lang="en-US" sz="1950" b="1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endParaRPr dirty="0"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6096000" y="2820888"/>
              <a:ext cx="279428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1.</a:t>
              </a:r>
              <a:endParaRPr dirty="0"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6296025" y="2720875"/>
              <a:ext cx="5393974" cy="450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00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项目规划</a:t>
              </a:r>
              <a:r>
                <a:rPr lang="en-US" sz="1950" b="1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范围定义、需求调研及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POS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立项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dirty="0"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6096000" y="3371024"/>
              <a:ext cx="344164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2.</a:t>
              </a:r>
              <a:endParaRPr dirty="0"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6296025" y="3271011"/>
              <a:ext cx="4953000" cy="371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00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结构生成</a:t>
              </a:r>
              <a:r>
                <a:rPr lang="en-US" sz="1950" b="1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模板规则设计、Prompt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迭代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dirty="0"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6096000" y="3885374"/>
              <a:ext cx="279428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3.</a:t>
              </a:r>
              <a:endParaRPr dirty="0"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6296025" y="3785361"/>
              <a:ext cx="5329238" cy="450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00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RAG模块</a:t>
              </a:r>
              <a:r>
                <a:rPr lang="en-US" sz="1950" b="1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混合检索召回、知识压缩与溯源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dirty="0"/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6096000" y="4429017"/>
              <a:ext cx="344164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4.</a:t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6296024" y="4329004"/>
              <a:ext cx="5393975" cy="450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00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系统开发</a:t>
              </a:r>
              <a:r>
                <a:rPr lang="en-US" sz="1950" b="1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后端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FastAPI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开发、前端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UI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设计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dirty="0"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6110288" y="4950905"/>
              <a:ext cx="344164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5.</a:t>
              </a:r>
              <a:endParaRPr dirty="0"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6310313" y="4843354"/>
              <a:ext cx="4953000" cy="371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00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评估总结</a:t>
              </a:r>
              <a:r>
                <a:rPr lang="en-US" sz="1950" b="1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性能测试、SUS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950" b="0" i="0" u="none" strike="noStrike" cap="none" dirty="0" err="1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问卷评估</a:t>
              </a:r>
              <a:r>
                <a:rPr lang="en-US" sz="1950" b="0" i="0" u="none" strike="noStrike" cap="none" dirty="0">
                  <a:solidFill>
                    <a:srgbClr val="334155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dirty="0"/>
            </a:p>
          </p:txBody>
        </p:sp>
      </p:grpSp>
      <p:sp>
        <p:nvSpPr>
          <p:cNvPr id="168" name="Google Shape;168;p17"/>
          <p:cNvSpPr txBox="1"/>
          <p:nvPr/>
        </p:nvSpPr>
        <p:spPr>
          <a:xfrm>
            <a:off x="666750" y="753219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工作分解结构 (WBS) 详细说明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666750" y="1467594"/>
            <a:ext cx="40195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1473" y="2191493"/>
            <a:ext cx="6823777" cy="4063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191494"/>
            <a:ext cx="3573477" cy="406314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178482" y="2604229"/>
            <a:ext cx="256032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三阶段流水线设计</a:t>
            </a:r>
            <a:endParaRPr dirty="0"/>
          </a:p>
        </p:txBody>
      </p:sp>
      <p:sp>
        <p:nvSpPr>
          <p:cNvPr id="179" name="Google Shape;179;p18"/>
          <p:cNvSpPr/>
          <p:nvPr/>
        </p:nvSpPr>
        <p:spPr>
          <a:xfrm>
            <a:off x="5178482" y="3090004"/>
            <a:ext cx="24384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1028701" y="2651854"/>
            <a:ext cx="96012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</a:t>
            </a:r>
            <a:endParaRPr dirty="0"/>
          </a:p>
        </p:txBody>
      </p:sp>
      <p:sp>
        <p:nvSpPr>
          <p:cNvPr id="181" name="Google Shape;181;p18"/>
          <p:cNvSpPr/>
          <p:nvPr/>
        </p:nvSpPr>
        <p:spPr>
          <a:xfrm>
            <a:off x="1028701" y="3137629"/>
            <a:ext cx="914400" cy="2857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028701" y="3518628"/>
            <a:ext cx="2798832" cy="178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6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模型：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V4-Flash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650" b="1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后端</a:t>
            </a:r>
            <a:r>
              <a:rPr lang="zh-CN" altLang="en-US" sz="16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+ python</a:t>
            </a:r>
            <a:endParaRPr lang="en-US" sz="1650" dirty="0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650" b="1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前端：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Vue3</a:t>
            </a: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chemeClr val="dk1"/>
                </a:solidFill>
                <a:latin typeface="Calibri"/>
                <a:ea typeface="Noto Sans SC"/>
                <a:cs typeface="Calibri"/>
                <a:sym typeface="Calibri"/>
              </a:rPr>
              <a:t> </a:t>
            </a:r>
            <a:r>
              <a:rPr lang="zh-CN" altLang="en-US" sz="1650" b="1" dirty="0">
                <a:solidFill>
                  <a:srgbClr val="334155"/>
                </a:solidFill>
                <a:latin typeface="Noto Sans SC"/>
                <a:ea typeface="Noto Sans SC"/>
                <a:cs typeface="Calibri"/>
                <a:sym typeface="Noto Sans SC"/>
              </a:rPr>
              <a:t>检索</a:t>
            </a:r>
            <a:r>
              <a:rPr lang="zh-CN" altLang="en-US" sz="16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BM25</a:t>
            </a:r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b="1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导出：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python-pptx</a:t>
            </a:r>
            <a:endParaRPr dirty="0"/>
          </a:p>
        </p:txBody>
      </p:sp>
      <p:sp>
        <p:nvSpPr>
          <p:cNvPr id="183" name="Google Shape;183;p18"/>
          <p:cNvSpPr txBox="1"/>
          <p:nvPr/>
        </p:nvSpPr>
        <p:spPr>
          <a:xfrm>
            <a:off x="5178482" y="3386517"/>
            <a:ext cx="5984817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大纲锚点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):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通过主题和文本注入生成Outline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数据模型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84" name="Google Shape;184;p18"/>
          <p:cNvSpPr txBox="1"/>
          <p:nvPr/>
        </p:nvSpPr>
        <p:spPr>
          <a:xfrm>
            <a:off x="5178483" y="4329492"/>
            <a:ext cx="5984816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检索增强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):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依据大纲关键词触发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RAG，获取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Top_10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知识片段并完成内容重写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85" name="Google Shape;185;p18"/>
          <p:cNvSpPr txBox="1"/>
          <p:nvPr/>
        </p:nvSpPr>
        <p:spPr>
          <a:xfrm>
            <a:off x="5178483" y="5243892"/>
            <a:ext cx="5984816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第三阶段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解析导出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):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将结构化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SlideSpec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对象映射为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PPT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视觉组件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86" name="Google Shape;186;p18"/>
          <p:cNvSpPr txBox="1"/>
          <p:nvPr/>
        </p:nvSpPr>
        <p:spPr>
          <a:xfrm>
            <a:off x="666750" y="724644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系统架构与核心数据流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666750" y="1439019"/>
            <a:ext cx="5715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1" y="1855069"/>
            <a:ext cx="5041422" cy="212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6" y="1850169"/>
            <a:ext cx="5041422" cy="212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1" y="4329413"/>
            <a:ext cx="5041422" cy="216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6" y="4329413"/>
            <a:ext cx="5041422" cy="216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1076325" y="2148107"/>
            <a:ext cx="18312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逻辑质量评分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1076325" y="2577851"/>
            <a:ext cx="1744060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076326" y="2875510"/>
            <a:ext cx="4332898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平均分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≥ 4.5/5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。重点评估页间逻辑、标题准确性与内容的层级深度。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6648450" y="2148107"/>
            <a:ext cx="1526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事实准确性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6648450" y="2577851"/>
            <a:ext cx="1453383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648450" y="2875510"/>
            <a:ext cx="4332898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生成内容的溯源比例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≥ 80%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且事实性错误率控制在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&lt; 5%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以内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1076325" y="4618095"/>
            <a:ext cx="1831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生产效率提升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1076325" y="5010206"/>
            <a:ext cx="1744060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1076325" y="5392045"/>
            <a:ext cx="4332969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用户测试反馈显示，相比手动制作，</a:t>
            </a:r>
            <a:r>
              <a:rPr lang="en-US" sz="195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70% </a:t>
            </a: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以上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的用户认为效率显著提升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6648450" y="4618095"/>
            <a:ext cx="1526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多领域适配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6648450" y="5010206"/>
            <a:ext cx="1453383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6648450" y="5392045"/>
            <a:ext cx="4332969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在 </a:t>
            </a:r>
            <a:r>
              <a:rPr lang="en-US" sz="195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商业、教育、科研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三个典型领域完成端到端闭环验证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666751" y="654017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成功标准与量化指标</a:t>
            </a:r>
            <a:endParaRPr dirty="0"/>
          </a:p>
        </p:txBody>
      </p:sp>
      <p:sp>
        <p:nvSpPr>
          <p:cNvPr id="136" name="Google Shape;136;p15"/>
          <p:cNvSpPr/>
          <p:nvPr/>
        </p:nvSpPr>
        <p:spPr>
          <a:xfrm>
            <a:off x="666751" y="1368392"/>
            <a:ext cx="62103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F4D7C-0CEA-2220-98C7-2CB96064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>
            <a:extLst>
              <a:ext uri="{FF2B5EF4-FFF2-40B4-BE49-F238E27FC236}">
                <a16:creationId xmlns:a16="http://schemas.microsoft.com/office/drawing/2014/main" id="{2DE56F74-5F33-1F82-0EA8-85D8263B91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89;p13" descr="image.png">
            <a:extLst>
              <a:ext uri="{FF2B5EF4-FFF2-40B4-BE49-F238E27FC236}">
                <a16:creationId xmlns:a16="http://schemas.microsoft.com/office/drawing/2014/main" id="{B14E8743-778A-F75E-170D-CACCF2D88F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7627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257D1C00-3872-CE97-3942-E5DF6E1B3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Noto Sans SC"/>
                <a:ea typeface="Noto Sans SC"/>
                <a:sym typeface="Noto Sans SC"/>
              </a:rPr>
              <a:t>Milestone1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018B56A9-3DCB-4E07-9A50-8A9A7F527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13" y="4006831"/>
            <a:ext cx="7772400" cy="40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完成工作与未来目标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807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74;p18" descr="image.png">
            <a:extLst>
              <a:ext uri="{FF2B5EF4-FFF2-40B4-BE49-F238E27FC236}">
                <a16:creationId xmlns:a16="http://schemas.microsoft.com/office/drawing/2014/main" id="{EB901DBB-E232-DE49-11C1-67DC0233FD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709737"/>
            <a:ext cx="5310187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709737"/>
            <a:ext cx="5310187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4010917"/>
            <a:ext cx="5310187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4010917"/>
            <a:ext cx="5310187" cy="206305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952500" y="2043112"/>
            <a:ext cx="497562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项目规划 (100%)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52500" y="2690812"/>
            <a:ext cx="473868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立项文件、需求分析、系统架构设计及API接口定义已全部定稿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6500812" y="2043112"/>
            <a:ext cx="497562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 (90%)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500812" y="2690812"/>
            <a:ext cx="473868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Prompt工程定稿，支持PDF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/DOCX/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TXT输入；大纲生成逻辑已实现场景化适配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59" name="Google Shape;159;p18"/>
          <p:cNvSpPr txBox="1"/>
          <p:nvPr/>
        </p:nvSpPr>
        <p:spPr>
          <a:xfrm>
            <a:off x="952500" y="4344292"/>
            <a:ext cx="497562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RAG 检索 (85%)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52500" y="4991992"/>
            <a:ext cx="473868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基于BM25的分词检索器搭建完成，corpus.json知识库与源溯源标注已实现。</a:t>
            </a:r>
            <a:endParaRPr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6500812" y="4344292"/>
            <a:ext cx="497562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原型导出 (90%)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500812" y="4991992"/>
            <a:ext cx="473868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完整Outline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SlideSpec数据模型定义，实现python-pptx自动生成核心文件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63" name="Google Shape;163;p18"/>
          <p:cNvSpPr txBox="1"/>
          <p:nvPr/>
        </p:nvSpPr>
        <p:spPr>
          <a:xfrm>
            <a:off x="639365" y="751582"/>
            <a:ext cx="11151393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Milestone 1 </a:t>
            </a:r>
            <a:r>
              <a:rPr lang="en-US" sz="39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已完成任务汇总</a:t>
            </a:r>
            <a:endParaRPr dirty="0"/>
          </a:p>
        </p:txBody>
      </p:sp>
      <p:sp>
        <p:nvSpPr>
          <p:cNvPr id="2" name="Google Shape;187;p18">
            <a:extLst>
              <a:ext uri="{FF2B5EF4-FFF2-40B4-BE49-F238E27FC236}">
                <a16:creationId xmlns:a16="http://schemas.microsoft.com/office/drawing/2014/main" id="{7C28DB37-9C3E-289F-9B86-33E01C815AB6}"/>
              </a:ext>
            </a:extLst>
          </p:cNvPr>
          <p:cNvSpPr/>
          <p:nvPr/>
        </p:nvSpPr>
        <p:spPr>
          <a:xfrm>
            <a:off x="666750" y="1439019"/>
            <a:ext cx="5715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219220"/>
            <a:ext cx="5143500" cy="3437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19220"/>
            <a:ext cx="5143500" cy="343711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1076325" y="2534394"/>
            <a:ext cx="2760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rgbClr val="EF4444"/>
                </a:solidFill>
                <a:latin typeface="Noto Sans SC"/>
                <a:ea typeface="Noto Sans SC"/>
                <a:sym typeface="Noto Sans SC"/>
              </a:rPr>
              <a:t>项目风险项</a:t>
            </a:r>
            <a:endParaRPr dirty="0"/>
          </a:p>
        </p:txBody>
      </p:sp>
      <p:sp>
        <p:nvSpPr>
          <p:cNvPr id="219" name="Google Shape;219;p21"/>
          <p:cNvSpPr/>
          <p:nvPr/>
        </p:nvSpPr>
        <p:spPr>
          <a:xfrm>
            <a:off x="1076325" y="3020169"/>
            <a:ext cx="2628900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791325" y="2534394"/>
            <a:ext cx="1600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rgbClr val="005088"/>
                </a:solidFill>
                <a:latin typeface="Noto Sans SC"/>
                <a:ea typeface="Noto Sans SC"/>
                <a:sym typeface="Noto Sans SC"/>
              </a:rPr>
              <a:t>下阶段任务</a:t>
            </a:r>
            <a:endParaRPr dirty="0"/>
          </a:p>
        </p:txBody>
      </p:sp>
      <p:sp>
        <p:nvSpPr>
          <p:cNvPr id="221" name="Google Shape;221;p21"/>
          <p:cNvSpPr/>
          <p:nvPr/>
        </p:nvSpPr>
        <p:spPr>
          <a:xfrm>
            <a:off x="6791325" y="3020169"/>
            <a:ext cx="1524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6791325" y="3323159"/>
            <a:ext cx="440055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altLang="zh-CN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RAG</a:t>
            </a:r>
            <a:r>
              <a:rPr lang="zh-CN" alt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联调与集成（</a:t>
            </a:r>
            <a:r>
              <a:rPr lang="en-US" altLang="zh-CN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50h</a:t>
            </a:r>
            <a:r>
              <a:rPr lang="zh-CN" alt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dirty="0"/>
          </a:p>
        </p:txBody>
      </p:sp>
      <p:sp>
        <p:nvSpPr>
          <p:cNvPr id="223" name="Google Shape;223;p21"/>
          <p:cNvSpPr txBox="1"/>
          <p:nvPr/>
        </p:nvSpPr>
        <p:spPr>
          <a:xfrm>
            <a:off x="6791325" y="3822635"/>
            <a:ext cx="440055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50" dirty="0">
                <a:solidFill>
                  <a:srgbClr val="334155"/>
                </a:solidFill>
                <a:latin typeface="Noto Sans SC"/>
                <a:ea typeface="Noto Sans SC"/>
                <a:sym typeface="Noto Sans SC"/>
              </a:rPr>
              <a:t>2. </a:t>
            </a:r>
            <a:r>
              <a:rPr lang="zh-CN" altLang="en-US" sz="1950" dirty="0">
                <a:solidFill>
                  <a:srgbClr val="334155"/>
                </a:solidFill>
                <a:latin typeface="Noto Sans SC"/>
                <a:ea typeface="Noto Sans SC"/>
              </a:rPr>
              <a:t>前端界面完善（</a:t>
            </a:r>
            <a:r>
              <a:rPr lang="en-US" altLang="zh-CN" sz="1950" dirty="0">
                <a:solidFill>
                  <a:srgbClr val="334155"/>
                </a:solidFill>
                <a:latin typeface="Noto Sans SC"/>
                <a:ea typeface="Noto Sans SC"/>
              </a:rPr>
              <a:t>30h</a:t>
            </a:r>
            <a:r>
              <a:rPr lang="zh-CN" altLang="en-US" sz="1950" dirty="0">
                <a:solidFill>
                  <a:srgbClr val="334155"/>
                </a:solidFill>
                <a:latin typeface="Noto Sans SC"/>
                <a:ea typeface="Noto Sans SC"/>
              </a:rPr>
              <a:t>）</a:t>
            </a:r>
            <a:endParaRPr sz="1950" dirty="0">
              <a:solidFill>
                <a:srgbClr val="334155"/>
              </a:solidFill>
              <a:latin typeface="Noto Sans SC"/>
              <a:ea typeface="Noto Sans SC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076325" y="3323159"/>
            <a:ext cx="4543424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1. RAG</a:t>
            </a:r>
            <a:r>
              <a:rPr lang="zh-CN" alt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检索噪声较多，相关性不足</a:t>
            </a:r>
            <a:endParaRPr dirty="0"/>
          </a:p>
        </p:txBody>
      </p:sp>
      <p:sp>
        <p:nvSpPr>
          <p:cNvPr id="225" name="Google Shape;225;p21"/>
          <p:cNvSpPr txBox="1"/>
          <p:nvPr/>
        </p:nvSpPr>
        <p:spPr>
          <a:xfrm>
            <a:off x="1076325" y="3875128"/>
            <a:ext cx="487680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zh-CN" alt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大纲与</a:t>
            </a:r>
            <a:r>
              <a:rPr lang="en-US" altLang="zh-CN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RAG</a:t>
            </a:r>
            <a:r>
              <a:rPr lang="zh-CN" alt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模块接口待对齐</a:t>
            </a:r>
            <a:endParaRPr dirty="0"/>
          </a:p>
        </p:txBody>
      </p:sp>
      <p:sp>
        <p:nvSpPr>
          <p:cNvPr id="226" name="Google Shape;226;p21"/>
          <p:cNvSpPr txBox="1"/>
          <p:nvPr/>
        </p:nvSpPr>
        <p:spPr>
          <a:xfrm>
            <a:off x="1085850" y="4427097"/>
            <a:ext cx="487680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altLang="en-US" sz="195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测试阶段尚未启动，工时紧张</a:t>
            </a:r>
            <a:endParaRPr dirty="0"/>
          </a:p>
        </p:txBody>
      </p:sp>
      <p:sp>
        <p:nvSpPr>
          <p:cNvPr id="227" name="Google Shape;227;p21"/>
          <p:cNvSpPr txBox="1"/>
          <p:nvPr/>
        </p:nvSpPr>
        <p:spPr>
          <a:xfrm>
            <a:off x="666750" y="753219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待完成工作与改进方向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666750" y="1467594"/>
            <a:ext cx="5715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23;p21">
            <a:extLst>
              <a:ext uri="{FF2B5EF4-FFF2-40B4-BE49-F238E27FC236}">
                <a16:creationId xmlns:a16="http://schemas.microsoft.com/office/drawing/2014/main" id="{BB3FD301-5E56-67E8-4D02-A00A1AA4AE92}"/>
              </a:ext>
            </a:extLst>
          </p:cNvPr>
          <p:cNvSpPr txBox="1"/>
          <p:nvPr/>
        </p:nvSpPr>
        <p:spPr>
          <a:xfrm>
            <a:off x="6791325" y="4322111"/>
            <a:ext cx="440055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50" dirty="0">
                <a:solidFill>
                  <a:srgbClr val="334155"/>
                </a:solidFill>
                <a:latin typeface="Noto Sans SC"/>
                <a:ea typeface="Noto Sans SC"/>
                <a:sym typeface="Noto Sans SC"/>
              </a:rPr>
              <a:t>3. </a:t>
            </a:r>
            <a:r>
              <a:rPr lang="zh-CN" altLang="en-US" sz="1950" dirty="0">
                <a:solidFill>
                  <a:srgbClr val="334155"/>
                </a:solidFill>
                <a:latin typeface="Noto Sans SC"/>
                <a:ea typeface="Noto Sans SC"/>
                <a:sym typeface="Noto Sans SC"/>
              </a:rPr>
              <a:t>多领域测试与用户测试（</a:t>
            </a:r>
            <a:r>
              <a:rPr lang="en-US" altLang="zh-CN" sz="1950" dirty="0">
                <a:solidFill>
                  <a:srgbClr val="334155"/>
                </a:solidFill>
                <a:latin typeface="Noto Sans SC"/>
                <a:ea typeface="Noto Sans SC"/>
                <a:sym typeface="Noto Sans SC"/>
              </a:rPr>
              <a:t>80h</a:t>
            </a:r>
            <a:r>
              <a:rPr lang="zh-CN" altLang="en-US" sz="1950" dirty="0">
                <a:solidFill>
                  <a:srgbClr val="334155"/>
                </a:solidFill>
                <a:latin typeface="Noto Sans SC"/>
                <a:ea typeface="Noto Sans SC"/>
                <a:sym typeface="Noto Sans SC"/>
              </a:rPr>
              <a:t>）</a:t>
            </a:r>
            <a:endParaRPr sz="1950" dirty="0">
              <a:solidFill>
                <a:srgbClr val="334155"/>
              </a:solidFill>
              <a:latin typeface="Noto Sans SC"/>
              <a:ea typeface="Noto Sans SC"/>
            </a:endParaRPr>
          </a:p>
        </p:txBody>
      </p:sp>
      <p:sp>
        <p:nvSpPr>
          <p:cNvPr id="4" name="Google Shape;223;p21">
            <a:extLst>
              <a:ext uri="{FF2B5EF4-FFF2-40B4-BE49-F238E27FC236}">
                <a16:creationId xmlns:a16="http://schemas.microsoft.com/office/drawing/2014/main" id="{F3F84A7B-008C-A795-0F3D-AD2CD3959CE9}"/>
              </a:ext>
            </a:extLst>
          </p:cNvPr>
          <p:cNvSpPr txBox="1"/>
          <p:nvPr/>
        </p:nvSpPr>
        <p:spPr>
          <a:xfrm>
            <a:off x="6791325" y="4821587"/>
            <a:ext cx="440055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50" dirty="0">
                <a:solidFill>
                  <a:srgbClr val="334155"/>
                </a:solidFill>
                <a:latin typeface="Noto Sans SC"/>
                <a:ea typeface="Noto Sans SC"/>
                <a:sym typeface="Noto Sans SC"/>
              </a:rPr>
              <a:t>4. </a:t>
            </a:r>
            <a:r>
              <a:rPr lang="zh-CN" altLang="en-US" sz="1950" dirty="0">
                <a:solidFill>
                  <a:srgbClr val="334155"/>
                </a:solidFill>
                <a:latin typeface="Noto Sans SC"/>
                <a:ea typeface="Noto Sans SC"/>
                <a:sym typeface="Noto Sans SC"/>
              </a:rPr>
              <a:t>文档与报告撰写（</a:t>
            </a:r>
            <a:r>
              <a:rPr lang="en-US" altLang="zh-CN" sz="1950" dirty="0">
                <a:solidFill>
                  <a:srgbClr val="334155"/>
                </a:solidFill>
                <a:latin typeface="Noto Sans SC"/>
                <a:ea typeface="Noto Sans SC"/>
                <a:sym typeface="Noto Sans SC"/>
              </a:rPr>
              <a:t>10h</a:t>
            </a:r>
            <a:r>
              <a:rPr lang="zh-CN" altLang="en-US" sz="1950" dirty="0">
                <a:solidFill>
                  <a:srgbClr val="334155"/>
                </a:solidFill>
                <a:latin typeface="Noto Sans SC"/>
                <a:ea typeface="Noto Sans SC"/>
                <a:sym typeface="Noto Sans SC"/>
              </a:rPr>
              <a:t>）</a:t>
            </a:r>
            <a:endParaRPr sz="1950" dirty="0">
              <a:solidFill>
                <a:srgbClr val="334155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666750" y="777031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项目执行计划 (Gantt Chart)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666750" y="1491406"/>
            <a:ext cx="43529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32B5808-4732-BB2A-5B20-0149BAF54D28}"/>
              </a:ext>
            </a:extLst>
          </p:cNvPr>
          <p:cNvGrpSpPr/>
          <p:nvPr/>
        </p:nvGrpSpPr>
        <p:grpSpPr>
          <a:xfrm>
            <a:off x="666750" y="2103930"/>
            <a:ext cx="10858500" cy="3641647"/>
            <a:chOff x="666750" y="2298138"/>
            <a:chExt cx="10858500" cy="3641647"/>
          </a:xfrm>
        </p:grpSpPr>
        <p:pic>
          <p:nvPicPr>
            <p:cNvPr id="207" name="Google Shape;207;p20"/>
            <p:cNvPicPr preferRelativeResize="0"/>
            <p:nvPr/>
          </p:nvPicPr>
          <p:blipFill>
            <a:blip r:embed="rId4">
              <a:alphaModFix/>
            </a:blip>
            <a:srcRect/>
            <a:stretch/>
          </p:blipFill>
          <p:spPr>
            <a:xfrm>
              <a:off x="666750" y="2472276"/>
              <a:ext cx="10858500" cy="34675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7863DE9-36F2-BEA2-7B89-9E6CA6D7D60B}"/>
                </a:ext>
              </a:extLst>
            </p:cNvPr>
            <p:cNvSpPr/>
            <p:nvPr/>
          </p:nvSpPr>
          <p:spPr>
            <a:xfrm>
              <a:off x="3665692" y="2298138"/>
              <a:ext cx="1723604" cy="4625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1" y="2014917"/>
            <a:ext cx="4960502" cy="205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6" y="2014917"/>
            <a:ext cx="4960502" cy="205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1" y="4346358"/>
            <a:ext cx="4960502" cy="205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6" y="4346358"/>
            <a:ext cx="4960502" cy="205923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1076325" y="2287128"/>
            <a:ext cx="3851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zh-CN" altLang="en-US" sz="2400" b="1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美化</a:t>
            </a:r>
            <a:r>
              <a:rPr lang="en-US" altLang="zh-CN" sz="2400" b="1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PPT</a:t>
            </a:r>
            <a:r>
              <a:rPr lang="zh-CN" altLang="en-US" sz="2400" b="1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样式</a:t>
            </a:r>
            <a:endParaRPr dirty="0"/>
          </a:p>
        </p:txBody>
      </p:sp>
      <p:sp>
        <p:nvSpPr>
          <p:cNvPr id="253" name="Google Shape;253;p23"/>
          <p:cNvSpPr/>
          <p:nvPr/>
        </p:nvSpPr>
        <p:spPr>
          <a:xfrm>
            <a:off x="1076326" y="2675878"/>
            <a:ext cx="2323838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1076326" y="3019055"/>
            <a:ext cx="42633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引入图片生成功能</a:t>
            </a:r>
            <a:r>
              <a:rPr lang="zh-CN" altLang="en-US" sz="1500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以支持图片插入；引入一些固定的</a:t>
            </a:r>
            <a:r>
              <a:rPr lang="en-US" altLang="zh-CN" sz="1500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PPT</a:t>
            </a:r>
            <a:r>
              <a:rPr lang="zh-CN" altLang="en-US" sz="1500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模板以生成美观的</a:t>
            </a:r>
            <a:r>
              <a:rPr lang="en-US" altLang="zh-CN" sz="1500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PPT</a:t>
            </a:r>
            <a:endParaRPr dirty="0"/>
          </a:p>
        </p:txBody>
      </p:sp>
      <p:sp>
        <p:nvSpPr>
          <p:cNvPr id="255" name="Google Shape;255;p23"/>
          <p:cNvSpPr txBox="1"/>
          <p:nvPr/>
        </p:nvSpPr>
        <p:spPr>
          <a:xfrm>
            <a:off x="6648450" y="2287128"/>
            <a:ext cx="24400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24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经济成本评估</a:t>
            </a:r>
            <a:endParaRPr dirty="0"/>
          </a:p>
        </p:txBody>
      </p:sp>
      <p:sp>
        <p:nvSpPr>
          <p:cNvPr id="256" name="Google Shape;256;p23"/>
          <p:cNvSpPr/>
          <p:nvPr/>
        </p:nvSpPr>
        <p:spPr>
          <a:xfrm>
            <a:off x="6648450" y="2675878"/>
            <a:ext cx="2037828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6648451" y="3044532"/>
            <a:ext cx="42633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Token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消耗监测机制，计算单份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PPT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生成的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API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经济成本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258" name="Google Shape;258;p23"/>
          <p:cNvSpPr txBox="1"/>
          <p:nvPr/>
        </p:nvSpPr>
        <p:spPr>
          <a:xfrm>
            <a:off x="1076325" y="4618569"/>
            <a:ext cx="28725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3. Prompt </a:t>
            </a:r>
            <a:r>
              <a:rPr lang="en-US" sz="24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深度调优</a:t>
            </a:r>
            <a:endParaRPr dirty="0"/>
          </a:p>
        </p:txBody>
      </p:sp>
      <p:sp>
        <p:nvSpPr>
          <p:cNvPr id="259" name="Google Shape;259;p23"/>
          <p:cNvSpPr/>
          <p:nvPr/>
        </p:nvSpPr>
        <p:spPr>
          <a:xfrm>
            <a:off x="1076326" y="5007319"/>
            <a:ext cx="2583036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1076326" y="5336737"/>
            <a:ext cx="42633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采用更完善的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CoT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思维链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Prompt，提升逻辑严密性与语言专业度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261" name="Google Shape;261;p23"/>
          <p:cNvSpPr txBox="1"/>
          <p:nvPr/>
        </p:nvSpPr>
        <p:spPr>
          <a:xfrm>
            <a:off x="6648450" y="4618569"/>
            <a:ext cx="28677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4. </a:t>
            </a:r>
            <a:r>
              <a:rPr lang="en-US" sz="24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多场景模板预设</a:t>
            </a:r>
            <a:endParaRPr dirty="0"/>
          </a:p>
        </p:txBody>
      </p:sp>
      <p:sp>
        <p:nvSpPr>
          <p:cNvPr id="262" name="Google Shape;262;p23"/>
          <p:cNvSpPr/>
          <p:nvPr/>
        </p:nvSpPr>
        <p:spPr>
          <a:xfrm>
            <a:off x="6648451" y="5007319"/>
            <a:ext cx="2323838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6648451" y="5375973"/>
            <a:ext cx="42633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内置工作报告、科普演讲、学术会议等差异化版式与叙事逻辑模板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264" name="Google Shape;264;p23"/>
          <p:cNvSpPr txBox="1"/>
          <p:nvPr/>
        </p:nvSpPr>
        <p:spPr>
          <a:xfrm>
            <a:off x="666750" y="823826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评审反馈后的改进路线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666750" y="1538201"/>
            <a:ext cx="5715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B3825171-38B5-E633-0FBD-65D18502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>
            <a:extLst>
              <a:ext uri="{FF2B5EF4-FFF2-40B4-BE49-F238E27FC236}">
                <a16:creationId xmlns:a16="http://schemas.microsoft.com/office/drawing/2014/main" id="{23133257-0267-5AD5-59A5-982AFC941C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>
            <a:extLst>
              <a:ext uri="{FF2B5EF4-FFF2-40B4-BE49-F238E27FC236}">
                <a16:creationId xmlns:a16="http://schemas.microsoft.com/office/drawing/2014/main" id="{ED7B4983-7172-F47D-070A-BB40E2B598C4}"/>
              </a:ext>
            </a:extLst>
          </p:cNvPr>
          <p:cNvSpPr txBox="1"/>
          <p:nvPr/>
        </p:nvSpPr>
        <p:spPr>
          <a:xfrm>
            <a:off x="666750" y="880931"/>
            <a:ext cx="1140142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900" b="1" i="0" u="none" strike="noStrike" cap="none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组员贡献与工时</a:t>
            </a:r>
            <a:endParaRPr lang="zh-CN" altLang="en-US" dirty="0"/>
          </a:p>
        </p:txBody>
      </p:sp>
      <p:sp>
        <p:nvSpPr>
          <p:cNvPr id="265" name="Google Shape;265;p23">
            <a:extLst>
              <a:ext uri="{FF2B5EF4-FFF2-40B4-BE49-F238E27FC236}">
                <a16:creationId xmlns:a16="http://schemas.microsoft.com/office/drawing/2014/main" id="{C0E94E3A-D2FF-2B92-9E0F-C4C1CD7DCB6C}"/>
              </a:ext>
            </a:extLst>
          </p:cNvPr>
          <p:cNvSpPr/>
          <p:nvPr/>
        </p:nvSpPr>
        <p:spPr>
          <a:xfrm>
            <a:off x="666750" y="1538201"/>
            <a:ext cx="5715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7EB9D8B-480A-5FC5-82F6-F26BAA15A2A2}"/>
              </a:ext>
            </a:extLst>
          </p:cNvPr>
          <p:cNvSpPr/>
          <p:nvPr/>
        </p:nvSpPr>
        <p:spPr>
          <a:xfrm>
            <a:off x="796954" y="2300856"/>
            <a:ext cx="10662407" cy="3778891"/>
          </a:xfrm>
          <a:prstGeom prst="roundRect">
            <a:avLst>
              <a:gd name="adj" fmla="val 3504"/>
            </a:avLst>
          </a:prstGeom>
          <a:solidFill>
            <a:srgbClr val="FDFBF7"/>
          </a:solidFill>
          <a:ln>
            <a:solidFill>
              <a:srgbClr val="0050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1394DE0-5808-8946-594A-7DCCECF97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899620"/>
              </p:ext>
            </p:extLst>
          </p:nvPr>
        </p:nvGraphicFramePr>
        <p:xfrm>
          <a:off x="1277643" y="2728281"/>
          <a:ext cx="9636714" cy="27987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946">
                  <a:extLst>
                    <a:ext uri="{9D8B030D-6E8A-4147-A177-3AD203B41FA5}">
                      <a16:colId xmlns:a16="http://schemas.microsoft.com/office/drawing/2014/main" val="1927213574"/>
                    </a:ext>
                  </a:extLst>
                </a:gridCol>
                <a:gridCol w="1115736">
                  <a:extLst>
                    <a:ext uri="{9D8B030D-6E8A-4147-A177-3AD203B41FA5}">
                      <a16:colId xmlns:a16="http://schemas.microsoft.com/office/drawing/2014/main" val="3772297380"/>
                    </a:ext>
                  </a:extLst>
                </a:gridCol>
                <a:gridCol w="7047032">
                  <a:extLst>
                    <a:ext uri="{9D8B030D-6E8A-4147-A177-3AD203B41FA5}">
                      <a16:colId xmlns:a16="http://schemas.microsoft.com/office/drawing/2014/main" val="390741168"/>
                    </a:ext>
                  </a:extLst>
                </a:gridCol>
              </a:tblGrid>
              <a:tr h="6663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CN" altLang="en-US" sz="2400" b="1" i="0" u="none" strike="noStrike" cap="none" dirty="0">
                          <a:solidFill>
                            <a:srgbClr val="005088"/>
                          </a:solidFill>
                          <a:latin typeface="Noto Sans SC"/>
                          <a:ea typeface="Noto Sans SC"/>
                          <a:sym typeface="Arial"/>
                        </a:rPr>
                        <a:t>姓名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CN" altLang="en-US" sz="2400" b="1" i="0" u="none" strike="noStrike" cap="none" dirty="0">
                          <a:solidFill>
                            <a:srgbClr val="005088"/>
                          </a:solidFill>
                          <a:latin typeface="Noto Sans SC"/>
                          <a:ea typeface="Noto Sans SC"/>
                          <a:sym typeface="Arial"/>
                        </a:rPr>
                        <a:t>工时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CN" altLang="en-US" sz="2400" b="1" i="0" u="none" strike="noStrike" cap="none" dirty="0">
                          <a:solidFill>
                            <a:srgbClr val="005088"/>
                          </a:solidFill>
                          <a:latin typeface="Noto Sans SC"/>
                          <a:ea typeface="Noto Sans SC"/>
                          <a:sym typeface="Arial"/>
                        </a:rPr>
                        <a:t>主要贡献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8572408"/>
                  </a:ext>
                </a:extLst>
              </a:tr>
              <a:tr h="545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1800" b="1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潘越</a:t>
                      </a:r>
                      <a:endParaRPr lang="zh-CN" altLang="en-US" sz="1800" b="1" i="0" u="none" strike="noStrike" cap="none" dirty="0">
                        <a:solidFill>
                          <a:srgbClr val="005088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CN" sz="1800" b="1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32h</a:t>
                      </a:r>
                      <a:endParaRPr lang="zh-CN" altLang="en-US" sz="1800" b="1" i="0" u="none" strike="noStrike" cap="none" dirty="0">
                        <a:solidFill>
                          <a:srgbClr val="005088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CN" altLang="en-US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统筹规划、</a:t>
                      </a:r>
                      <a:r>
                        <a:rPr lang="en-US" altLang="zh-CN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API</a:t>
                      </a:r>
                      <a:r>
                        <a:rPr lang="zh-CN" altLang="en-US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设计、集成测试脚本</a:t>
                      </a:r>
                      <a:endParaRPr lang="zh-CN" altLang="en-US" sz="1800" b="1" i="0" u="none" strike="noStrike" cap="none" dirty="0">
                        <a:solidFill>
                          <a:srgbClr val="005088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7648704"/>
                  </a:ext>
                </a:extLst>
              </a:tr>
              <a:tr h="56206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CN" altLang="en-US" sz="1800" b="1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罗力</a:t>
                      </a:r>
                      <a:endParaRPr lang="zh-CN" altLang="en-US" sz="1800" b="1" i="0" u="none" strike="noStrike" cap="none" dirty="0">
                        <a:solidFill>
                          <a:srgbClr val="005088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CN" sz="1800" b="1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33h</a:t>
                      </a:r>
                      <a:endParaRPr lang="zh-CN" altLang="en-US" sz="1800" b="1" i="0" u="none" strike="noStrike" cap="none" dirty="0">
                        <a:solidFill>
                          <a:srgbClr val="005088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r>
                        <a:rPr lang="en-US" altLang="zh-CN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Prompt</a:t>
                      </a:r>
                      <a:r>
                        <a:rPr lang="zh-CN" altLang="en-US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设计、大纲生成逻辑实现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3439433"/>
                  </a:ext>
                </a:extLst>
              </a:tr>
              <a:tr h="5342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1800" b="1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左凌旭</a:t>
                      </a:r>
                      <a:endParaRPr lang="zh-CN" altLang="en-US" sz="1800" b="1" i="0" u="none" strike="noStrike" cap="none" dirty="0">
                        <a:solidFill>
                          <a:srgbClr val="005088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CN" sz="1800" b="1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34h</a:t>
                      </a:r>
                      <a:endParaRPr lang="zh-CN" altLang="en-US" sz="1800" b="1" i="0" u="none" strike="noStrike" cap="none" dirty="0">
                        <a:solidFill>
                          <a:srgbClr val="005088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CN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RAG</a:t>
                      </a:r>
                      <a:r>
                        <a:rPr lang="zh-CN" altLang="en-US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方案调研、向量知识库、内容校验</a:t>
                      </a:r>
                      <a:endParaRPr lang="zh-CN" altLang="en-US" sz="1800" b="1" i="0" u="none" strike="noStrike" cap="none" dirty="0">
                        <a:solidFill>
                          <a:srgbClr val="005088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9788124"/>
                  </a:ext>
                </a:extLst>
              </a:tr>
              <a:tr h="4907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1800" b="1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上官思洋</a:t>
                      </a:r>
                      <a:endParaRPr lang="zh-CN" altLang="en-US" sz="1800" b="1" i="0" u="none" strike="noStrike" cap="none" dirty="0">
                        <a:solidFill>
                          <a:srgbClr val="005088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CN" sz="1800" b="1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30h</a:t>
                      </a:r>
                      <a:endParaRPr lang="zh-CN" altLang="en-US" sz="1800" b="1" i="0" u="none" strike="noStrike" cap="none" dirty="0">
                        <a:solidFill>
                          <a:srgbClr val="005088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数据模型定义、</a:t>
                      </a:r>
                      <a:r>
                        <a:rPr lang="en-US" altLang="zh-CN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PPT</a:t>
                      </a:r>
                      <a:r>
                        <a:rPr lang="zh-CN" altLang="en-US" sz="1800" b="0" i="0" u="none" strike="noStrike" cap="non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单页导出及模板创建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7708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359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ED97A-C45C-2A94-F6D9-F4BF6F79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>
            <a:extLst>
              <a:ext uri="{FF2B5EF4-FFF2-40B4-BE49-F238E27FC236}">
                <a16:creationId xmlns:a16="http://schemas.microsoft.com/office/drawing/2014/main" id="{6765C7DD-05E8-D1B9-E11B-AF4494D91D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89;p13" descr="image.png">
            <a:extLst>
              <a:ext uri="{FF2B5EF4-FFF2-40B4-BE49-F238E27FC236}">
                <a16:creationId xmlns:a16="http://schemas.microsoft.com/office/drawing/2014/main" id="{20898981-B317-E0B8-46CF-B7E586A1FE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7627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841C049D-D8BF-66E9-4C7A-AC0C5BC4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系统展示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70B5FAA6-6D61-E050-1E37-B6F0D5A832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13" y="4006831"/>
            <a:ext cx="7772400" cy="40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Demo</a:t>
            </a:r>
            <a:r>
              <a:rPr lang="zh-CN" altLang="en-US" dirty="0"/>
              <a:t>演示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395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666750" y="820637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系统原型 Demo 展示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666750" y="1535012"/>
            <a:ext cx="60388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AE3D3A8-07D3-B38C-46D6-BE74D4B23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322" y="1873755"/>
            <a:ext cx="9007355" cy="45808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74C98D8B-E685-CAD1-BC91-12532259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>
            <a:extLst>
              <a:ext uri="{FF2B5EF4-FFF2-40B4-BE49-F238E27FC236}">
                <a16:creationId xmlns:a16="http://schemas.microsoft.com/office/drawing/2014/main" id="{E5FCF375-8A5A-035C-751F-2E146B18ED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>
            <a:extLst>
              <a:ext uri="{FF2B5EF4-FFF2-40B4-BE49-F238E27FC236}">
                <a16:creationId xmlns:a16="http://schemas.microsoft.com/office/drawing/2014/main" id="{0D1B59FA-3F14-5ACF-9B7E-E3195BDFB197}"/>
              </a:ext>
            </a:extLst>
          </p:cNvPr>
          <p:cNvSpPr txBox="1"/>
          <p:nvPr/>
        </p:nvSpPr>
        <p:spPr>
          <a:xfrm>
            <a:off x="666750" y="820637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系统原型 Demo 展示</a:t>
            </a:r>
            <a:endParaRPr/>
          </a:p>
        </p:txBody>
      </p:sp>
      <p:sp>
        <p:nvSpPr>
          <p:cNvPr id="242" name="Google Shape;242;p22">
            <a:extLst>
              <a:ext uri="{FF2B5EF4-FFF2-40B4-BE49-F238E27FC236}">
                <a16:creationId xmlns:a16="http://schemas.microsoft.com/office/drawing/2014/main" id="{206AC554-59DF-2FC0-8E16-F8E83776FD80}"/>
              </a:ext>
            </a:extLst>
          </p:cNvPr>
          <p:cNvSpPr/>
          <p:nvPr/>
        </p:nvSpPr>
        <p:spPr>
          <a:xfrm>
            <a:off x="666750" y="1535012"/>
            <a:ext cx="60388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490887-D07E-B8C8-BF9F-D07CBDA96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511" y="1801081"/>
            <a:ext cx="5877989" cy="4781958"/>
          </a:xfrm>
          <a:prstGeom prst="rect">
            <a:avLst/>
          </a:prstGeom>
        </p:spPr>
      </p:pic>
      <p:pic>
        <p:nvPicPr>
          <p:cNvPr id="4" name="Google Shape;175;p18" descr="image.png">
            <a:extLst>
              <a:ext uri="{FF2B5EF4-FFF2-40B4-BE49-F238E27FC236}">
                <a16:creationId xmlns:a16="http://schemas.microsoft.com/office/drawing/2014/main" id="{D38532B4-7331-D494-5AD7-71C6487597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829023"/>
            <a:ext cx="4268646" cy="47540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78;p18">
            <a:extLst>
              <a:ext uri="{FF2B5EF4-FFF2-40B4-BE49-F238E27FC236}">
                <a16:creationId xmlns:a16="http://schemas.microsoft.com/office/drawing/2014/main" id="{A27FAAA2-FD9A-96FB-F03B-59510A837294}"/>
              </a:ext>
            </a:extLst>
          </p:cNvPr>
          <p:cNvSpPr txBox="1"/>
          <p:nvPr/>
        </p:nvSpPr>
        <p:spPr>
          <a:xfrm>
            <a:off x="1143756" y="2241759"/>
            <a:ext cx="37916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005088"/>
                </a:solidFill>
                <a:latin typeface="Noto Sans SC"/>
                <a:ea typeface="Noto Sans SC"/>
                <a:sym typeface="Noto Sans SC"/>
              </a:rPr>
              <a:t>PPT</a:t>
            </a:r>
            <a:r>
              <a:rPr lang="zh-CN" altLang="en-US" sz="2400" b="1" dirty="0">
                <a:solidFill>
                  <a:srgbClr val="005088"/>
                </a:solidFill>
                <a:latin typeface="Noto Sans SC"/>
                <a:ea typeface="Noto Sans SC"/>
                <a:sym typeface="Noto Sans SC"/>
              </a:rPr>
              <a:t>生成</a:t>
            </a:r>
            <a:endParaRPr lang="zh-CN" altLang="en-US" dirty="0"/>
          </a:p>
        </p:txBody>
      </p:sp>
      <p:sp>
        <p:nvSpPr>
          <p:cNvPr id="6" name="Google Shape;179;p18">
            <a:extLst>
              <a:ext uri="{FF2B5EF4-FFF2-40B4-BE49-F238E27FC236}">
                <a16:creationId xmlns:a16="http://schemas.microsoft.com/office/drawing/2014/main" id="{921F2F0A-88E7-D4DC-5E39-54FA79F24A43}"/>
              </a:ext>
            </a:extLst>
          </p:cNvPr>
          <p:cNvSpPr/>
          <p:nvPr/>
        </p:nvSpPr>
        <p:spPr>
          <a:xfrm>
            <a:off x="1143758" y="2727534"/>
            <a:ext cx="1525352" cy="50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83;p18">
            <a:extLst>
              <a:ext uri="{FF2B5EF4-FFF2-40B4-BE49-F238E27FC236}">
                <a16:creationId xmlns:a16="http://schemas.microsoft.com/office/drawing/2014/main" id="{8133EE42-F789-0E18-08A1-02D9A96B7AA0}"/>
              </a:ext>
            </a:extLst>
          </p:cNvPr>
          <p:cNvSpPr txBox="1"/>
          <p:nvPr/>
        </p:nvSpPr>
        <p:spPr>
          <a:xfrm>
            <a:off x="1143759" y="3024046"/>
            <a:ext cx="374383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/>
              <a:t>输入生成参数： </a:t>
            </a:r>
            <a:r>
              <a:rPr lang="zh-CN" altLang="en-US" sz="1800" dirty="0"/>
              <a:t>输入演示主题、幻灯片页数等</a:t>
            </a:r>
            <a:r>
              <a:rPr lang="en-US" altLang="zh-CN" sz="1800" dirty="0"/>
              <a:t>PPT</a:t>
            </a:r>
            <a:r>
              <a:rPr lang="zh-CN" altLang="en-US" sz="1800" dirty="0"/>
              <a:t>生成参数</a:t>
            </a:r>
            <a:endParaRPr sz="1800" dirty="0"/>
          </a:p>
        </p:txBody>
      </p:sp>
      <p:sp>
        <p:nvSpPr>
          <p:cNvPr id="11" name="Google Shape;184;p18">
            <a:extLst>
              <a:ext uri="{FF2B5EF4-FFF2-40B4-BE49-F238E27FC236}">
                <a16:creationId xmlns:a16="http://schemas.microsoft.com/office/drawing/2014/main" id="{97EF6BD7-A81D-D4EE-3925-3439BFF72C09}"/>
              </a:ext>
            </a:extLst>
          </p:cNvPr>
          <p:cNvSpPr txBox="1"/>
          <p:nvPr/>
        </p:nvSpPr>
        <p:spPr>
          <a:xfrm>
            <a:off x="1143759" y="3967022"/>
            <a:ext cx="374383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/>
              <a:t>上传知识库文件：</a:t>
            </a:r>
            <a:r>
              <a:rPr lang="zh-CN" altLang="en-US" sz="1800" dirty="0"/>
              <a:t>选择或防止</a:t>
            </a:r>
            <a:r>
              <a:rPr lang="en-US" altLang="zh-CN" sz="1800" dirty="0"/>
              <a:t>txt</a:t>
            </a:r>
            <a:r>
              <a:rPr lang="zh-CN" altLang="en-US" sz="1800" dirty="0"/>
              <a:t>，</a:t>
            </a:r>
            <a:r>
              <a:rPr lang="en-US" altLang="zh-CN" sz="1800" dirty="0"/>
              <a:t>md</a:t>
            </a:r>
            <a:r>
              <a:rPr lang="zh-CN" altLang="en-US" sz="1800" dirty="0"/>
              <a:t>，</a:t>
            </a:r>
            <a:r>
              <a:rPr lang="en-US" altLang="zh-CN" sz="1800" dirty="0"/>
              <a:t>pdf</a:t>
            </a:r>
            <a:r>
              <a:rPr lang="zh-CN" altLang="en-US" sz="1800" dirty="0"/>
              <a:t>等多种格式的文件作为</a:t>
            </a:r>
            <a:r>
              <a:rPr lang="en-US" altLang="zh-CN" sz="1800" dirty="0"/>
              <a:t>PPT</a:t>
            </a:r>
            <a:r>
              <a:rPr lang="zh-CN" altLang="en-US" sz="1800" dirty="0"/>
              <a:t>生成的知识库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841425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075EC806-73B2-E8DA-2BDF-1FAEC299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>
            <a:extLst>
              <a:ext uri="{FF2B5EF4-FFF2-40B4-BE49-F238E27FC236}">
                <a16:creationId xmlns:a16="http://schemas.microsoft.com/office/drawing/2014/main" id="{E81F15C4-4D2F-3ADC-ECD8-D777047A23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>
            <a:extLst>
              <a:ext uri="{FF2B5EF4-FFF2-40B4-BE49-F238E27FC236}">
                <a16:creationId xmlns:a16="http://schemas.microsoft.com/office/drawing/2014/main" id="{E9AB30FC-9BEC-6C82-2C02-AB9B0CE8C0D5}"/>
              </a:ext>
            </a:extLst>
          </p:cNvPr>
          <p:cNvSpPr txBox="1"/>
          <p:nvPr/>
        </p:nvSpPr>
        <p:spPr>
          <a:xfrm>
            <a:off x="666750" y="820637"/>
            <a:ext cx="11401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系统原型</a:t>
            </a:r>
            <a:r>
              <a:rPr lang="en-US" sz="3900" b="1" i="0" u="none" strike="noStrike" cap="none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 Demo </a:t>
            </a:r>
            <a:r>
              <a:rPr lang="en-US" sz="39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展示</a:t>
            </a:r>
            <a:endParaRPr dirty="0"/>
          </a:p>
        </p:txBody>
      </p:sp>
      <p:sp>
        <p:nvSpPr>
          <p:cNvPr id="242" name="Google Shape;242;p22">
            <a:extLst>
              <a:ext uri="{FF2B5EF4-FFF2-40B4-BE49-F238E27FC236}">
                <a16:creationId xmlns:a16="http://schemas.microsoft.com/office/drawing/2014/main" id="{CC107486-835A-C693-4382-5C174A66C8BB}"/>
              </a:ext>
            </a:extLst>
          </p:cNvPr>
          <p:cNvSpPr/>
          <p:nvPr/>
        </p:nvSpPr>
        <p:spPr>
          <a:xfrm>
            <a:off x="666750" y="1535012"/>
            <a:ext cx="60388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8ED4EDB-700D-6101-F83B-BA4A70A88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176" y="1854689"/>
            <a:ext cx="8431648" cy="451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5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1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395300" y="2019300"/>
            <a:ext cx="114015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5143500" y="3829050"/>
            <a:ext cx="1905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666750" y="5581650"/>
            <a:ext cx="10858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Questions &amp; Answers</a:t>
            </a:r>
            <a:endParaRPr/>
          </a:p>
        </p:txBody>
      </p:sp>
      <p:pic>
        <p:nvPicPr>
          <p:cNvPr id="2" name="Google Shape;89;p13" descr="image.png">
            <a:extLst>
              <a:ext uri="{FF2B5EF4-FFF2-40B4-BE49-F238E27FC236}">
                <a16:creationId xmlns:a16="http://schemas.microsoft.com/office/drawing/2014/main" id="{4BD68181-634D-0125-5F78-AAF9EAB611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977"/>
            <a:ext cx="12192000" cy="6854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601</Words>
  <Application>Microsoft Office PowerPoint</Application>
  <PresentationFormat>宽屏</PresentationFormat>
  <Paragraphs>108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Calibri</vt:lpstr>
      <vt:lpstr>Oswald</vt:lpstr>
      <vt:lpstr>Arial</vt:lpstr>
      <vt:lpstr>Noto Sans SC</vt:lpstr>
      <vt:lpstr>Office Theme</vt:lpstr>
      <vt:lpstr>PowerPoint 演示文稿</vt:lpstr>
      <vt:lpstr>项目总览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Milestone1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系统展示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凌旭 左</cp:lastModifiedBy>
  <cp:revision>25</cp:revision>
  <dcterms:modified xsi:type="dcterms:W3CDTF">2026-05-17T18:36:09Z</dcterms:modified>
</cp:coreProperties>
</file>